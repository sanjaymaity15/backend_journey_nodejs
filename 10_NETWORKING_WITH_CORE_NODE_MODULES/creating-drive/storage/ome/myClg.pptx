
<file path=[Content_Types].xml><?xml version="1.0" encoding="utf-8"?>
<Types xmlns="http://schemas.openxmlformats.org/package/2006/content-types">
  <Default Extension="jpeg" ContentType="image/jpe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69" r:id="rId1"/>
  </p:sldMasterIdLst>
  <p:notesMasterIdLst>
    <p:notesMasterId r:id="rId11"/>
  </p:notesMasterIdLst>
  <p:sldIdLst>
    <p:sldId id="256" r:id="rId2"/>
    <p:sldId id="281" r:id="rId3"/>
    <p:sldId id="289" r:id="rId4"/>
    <p:sldId id="283" r:id="rId5"/>
    <p:sldId id="284" r:id="rId6"/>
    <p:sldId id="285" r:id="rId7"/>
    <p:sldId id="282" r:id="rId8"/>
    <p:sldId id="288" r:id="rId9"/>
    <p:sldId id="271" r:id="rId10"/>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08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81830" autoAdjust="0"/>
  </p:normalViewPr>
  <p:slideViewPr>
    <p:cSldViewPr>
      <p:cViewPr varScale="1">
        <p:scale>
          <a:sx n="48" d="100"/>
          <a:sy n="48" d="100"/>
        </p:scale>
        <p:origin x="1484" y="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0D55167-9309-4C49-8453-BA309417D697}" type="datetimeFigureOut">
              <a:rPr lang="en-IN" smtClean="0"/>
              <a:t>19-01-2026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54DE402D-046A-4760-8C3B-14CE083E45A4}" type="slidenum">
              <a:rPr lang="en-IN" smtClean="0"/>
              <a:t>‹#›</a:t>
            </a:fld>
            <a:endParaRPr lang="en-IN"/>
          </a:p>
        </p:txBody>
      </p:sp>
    </p:spTree>
    <p:extLst>
      <p:ext uri="{BB962C8B-B14F-4D97-AF65-F5344CB8AC3E}">
        <p14:creationId xmlns:p14="http://schemas.microsoft.com/office/powerpoint/2010/main" val="2072255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DE402D-046A-4760-8C3B-14CE083E45A4}" type="slidenum">
              <a:rPr lang="en-IN" smtClean="0"/>
              <a:t>1</a:t>
            </a:fld>
            <a:endParaRPr lang="en-IN"/>
          </a:p>
        </p:txBody>
      </p:sp>
    </p:spTree>
    <p:extLst>
      <p:ext uri="{BB962C8B-B14F-4D97-AF65-F5344CB8AC3E}">
        <p14:creationId xmlns:p14="http://schemas.microsoft.com/office/powerpoint/2010/main" val="3318102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DE402D-046A-4760-8C3B-14CE083E45A4}" type="slidenum">
              <a:rPr lang="en-IN" smtClean="0"/>
              <a:t>2</a:t>
            </a:fld>
            <a:endParaRPr lang="en-IN"/>
          </a:p>
        </p:txBody>
      </p:sp>
    </p:spTree>
    <p:extLst>
      <p:ext uri="{BB962C8B-B14F-4D97-AF65-F5344CB8AC3E}">
        <p14:creationId xmlns:p14="http://schemas.microsoft.com/office/powerpoint/2010/main" val="1809041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F05D8-0D0A-DB29-49F3-57DDD71544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4A2A2-76B8-878A-29BF-6EFDD37D3A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DCF5EB-3CEC-2500-71ED-A0A18AB9697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17B65A-1237-586D-5677-97893635640F}"/>
              </a:ext>
            </a:extLst>
          </p:cNvPr>
          <p:cNvSpPr>
            <a:spLocks noGrp="1"/>
          </p:cNvSpPr>
          <p:nvPr>
            <p:ph type="sldNum" sz="quarter" idx="5"/>
          </p:nvPr>
        </p:nvSpPr>
        <p:spPr/>
        <p:txBody>
          <a:bodyPr/>
          <a:lstStyle/>
          <a:p>
            <a:fld id="{54DE402D-046A-4760-8C3B-14CE083E45A4}" type="slidenum">
              <a:rPr lang="en-IN" smtClean="0"/>
              <a:t>3</a:t>
            </a:fld>
            <a:endParaRPr lang="en-IN"/>
          </a:p>
        </p:txBody>
      </p:sp>
    </p:spTree>
    <p:extLst>
      <p:ext uri="{BB962C8B-B14F-4D97-AF65-F5344CB8AC3E}">
        <p14:creationId xmlns:p14="http://schemas.microsoft.com/office/powerpoint/2010/main" val="3813794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F6065-AE06-F040-888E-A8F9F53FE2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B8999F-93E1-2596-5032-E189E51CF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25760B-EF4A-3DD9-8012-8EB8E498392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F733171-6766-4B5B-F67C-25CEF90A0BD9}"/>
              </a:ext>
            </a:extLst>
          </p:cNvPr>
          <p:cNvSpPr>
            <a:spLocks noGrp="1"/>
          </p:cNvSpPr>
          <p:nvPr>
            <p:ph type="sldNum" sz="quarter" idx="5"/>
          </p:nvPr>
        </p:nvSpPr>
        <p:spPr/>
        <p:txBody>
          <a:bodyPr/>
          <a:lstStyle/>
          <a:p>
            <a:fld id="{54DE402D-046A-4760-8C3B-14CE083E45A4}" type="slidenum">
              <a:rPr lang="en-IN" smtClean="0"/>
              <a:t>4</a:t>
            </a:fld>
            <a:endParaRPr lang="en-IN"/>
          </a:p>
        </p:txBody>
      </p:sp>
    </p:spTree>
    <p:extLst>
      <p:ext uri="{BB962C8B-B14F-4D97-AF65-F5344CB8AC3E}">
        <p14:creationId xmlns:p14="http://schemas.microsoft.com/office/powerpoint/2010/main" val="1157275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2D1B5-06FA-899E-661D-8A448C14A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CA34CB-13D7-F123-AADC-905ABA6DB9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721522-8BF9-6095-4D55-49BA5A895D8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D615F22-4E7B-F4C6-5B3B-271DC478058E}"/>
              </a:ext>
            </a:extLst>
          </p:cNvPr>
          <p:cNvSpPr>
            <a:spLocks noGrp="1"/>
          </p:cNvSpPr>
          <p:nvPr>
            <p:ph type="sldNum" sz="quarter" idx="5"/>
          </p:nvPr>
        </p:nvSpPr>
        <p:spPr/>
        <p:txBody>
          <a:bodyPr/>
          <a:lstStyle/>
          <a:p>
            <a:fld id="{54DE402D-046A-4760-8C3B-14CE083E45A4}" type="slidenum">
              <a:rPr lang="en-IN" smtClean="0"/>
              <a:t>5</a:t>
            </a:fld>
            <a:endParaRPr lang="en-IN"/>
          </a:p>
        </p:txBody>
      </p:sp>
    </p:spTree>
    <p:extLst>
      <p:ext uri="{BB962C8B-B14F-4D97-AF65-F5344CB8AC3E}">
        <p14:creationId xmlns:p14="http://schemas.microsoft.com/office/powerpoint/2010/main" val="59593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8926B-E82E-8355-202B-9C7C66F9F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44CE8-0984-3E6F-47C1-CF82B2623E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FAFCAF-FB50-9663-1532-1986CF7BD72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6E7492F-F9CE-D5C7-A981-9E2A4F383BA4}"/>
              </a:ext>
            </a:extLst>
          </p:cNvPr>
          <p:cNvSpPr>
            <a:spLocks noGrp="1"/>
          </p:cNvSpPr>
          <p:nvPr>
            <p:ph type="sldNum" sz="quarter" idx="5"/>
          </p:nvPr>
        </p:nvSpPr>
        <p:spPr/>
        <p:txBody>
          <a:bodyPr/>
          <a:lstStyle/>
          <a:p>
            <a:fld id="{54DE402D-046A-4760-8C3B-14CE083E45A4}" type="slidenum">
              <a:rPr lang="en-IN" smtClean="0"/>
              <a:t>6</a:t>
            </a:fld>
            <a:endParaRPr lang="en-IN"/>
          </a:p>
        </p:txBody>
      </p:sp>
    </p:spTree>
    <p:extLst>
      <p:ext uri="{BB962C8B-B14F-4D97-AF65-F5344CB8AC3E}">
        <p14:creationId xmlns:p14="http://schemas.microsoft.com/office/powerpoint/2010/main" val="13616411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94DFD-F364-D05A-93FA-8CFC3D4143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5B481-EC06-63A9-6F14-1203F5D819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A952D0-6376-3DC0-21E8-0A762174225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8490B82-29D7-07C5-9FE3-A532D7CFEE00}"/>
              </a:ext>
            </a:extLst>
          </p:cNvPr>
          <p:cNvSpPr>
            <a:spLocks noGrp="1"/>
          </p:cNvSpPr>
          <p:nvPr>
            <p:ph type="sldNum" sz="quarter" idx="5"/>
          </p:nvPr>
        </p:nvSpPr>
        <p:spPr/>
        <p:txBody>
          <a:bodyPr/>
          <a:lstStyle/>
          <a:p>
            <a:fld id="{54DE402D-046A-4760-8C3B-14CE083E45A4}" type="slidenum">
              <a:rPr lang="en-IN" smtClean="0"/>
              <a:t>7</a:t>
            </a:fld>
            <a:endParaRPr lang="en-IN"/>
          </a:p>
        </p:txBody>
      </p:sp>
    </p:spTree>
    <p:extLst>
      <p:ext uri="{BB962C8B-B14F-4D97-AF65-F5344CB8AC3E}">
        <p14:creationId xmlns:p14="http://schemas.microsoft.com/office/powerpoint/2010/main" val="34443437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6F2AD-716B-4903-7420-FFE51784C3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9C8F6-C3EB-1987-7DBB-52B87EA75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AA6042-01B8-B4E0-1538-15FD86A687D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BF21B79-D2F3-F8FB-001F-ABA6E880C730}"/>
              </a:ext>
            </a:extLst>
          </p:cNvPr>
          <p:cNvSpPr>
            <a:spLocks noGrp="1"/>
          </p:cNvSpPr>
          <p:nvPr>
            <p:ph type="sldNum" sz="quarter" idx="5"/>
          </p:nvPr>
        </p:nvSpPr>
        <p:spPr/>
        <p:txBody>
          <a:bodyPr/>
          <a:lstStyle/>
          <a:p>
            <a:fld id="{54DE402D-046A-4760-8C3B-14CE083E45A4}" type="slidenum">
              <a:rPr lang="en-IN" smtClean="0"/>
              <a:t>8</a:t>
            </a:fld>
            <a:endParaRPr lang="en-IN"/>
          </a:p>
        </p:txBody>
      </p:sp>
    </p:spTree>
    <p:extLst>
      <p:ext uri="{BB962C8B-B14F-4D97-AF65-F5344CB8AC3E}">
        <p14:creationId xmlns:p14="http://schemas.microsoft.com/office/powerpoint/2010/main" val="2366514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349904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03973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165748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52903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1/19/2026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006711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1/19/2026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601762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1/19/2026</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531209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091773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1/19/2026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054214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687699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60911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0152391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775245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8133943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010129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694531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t>1/19/2026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1330626004"/>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computer-networks/internet-intranet-and-extrane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www.geeksforgeeks.org/computer-networks/tcp-3-way-handshake-process/" TargetMode="External"/><Relationship Id="rId5" Type="http://schemas.openxmlformats.org/officeDocument/2006/relationships/hyperlink" Target="https://www.w3schools.com/whatis/whatis_http.asp" TargetMode="External"/><Relationship Id="rId4" Type="http://schemas.openxmlformats.org/officeDocument/2006/relationships/hyperlink" Target="https://en.wikipedia.org/wiki/World_Wide_Web" TargetMode="Externa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7305244-E0E1-E716-C374-87528CD07DBE}"/>
              </a:ext>
            </a:extLst>
          </p:cNvPr>
          <p:cNvSpPr>
            <a:spLocks noGrp="1"/>
          </p:cNvSpPr>
          <p:nvPr>
            <p:ph type="title"/>
          </p:nvPr>
        </p:nvSpPr>
        <p:spPr>
          <a:xfrm>
            <a:off x="381000" y="152400"/>
            <a:ext cx="11811000" cy="6243320"/>
          </a:xfrm>
        </p:spPr>
        <p:txBody>
          <a:bodyPr>
            <a:normAutofit/>
          </a:bodyPr>
          <a:lstStyle/>
          <a:p>
            <a:r>
              <a:rPr lang="en-IN" sz="2000" dirty="0">
                <a:solidFill>
                  <a:schemeClr val="tx1"/>
                </a:solidFill>
                <a:latin typeface="Times New Roman" panose="02020603050405020304" pitchFamily="18" charset="0"/>
                <a:cs typeface="Times New Roman" panose="02020603050405020304" pitchFamily="18" charset="0"/>
              </a:rPr>
              <a:t>		</a:t>
            </a:r>
            <a:br>
              <a:rPr lang="en-IN" sz="2000" b="0" i="0" u="none" strike="noStrike" baseline="0" dirty="0">
                <a:solidFill>
                  <a:schemeClr val="tx1"/>
                </a:solidFill>
                <a:latin typeface="Times New Roman" panose="02020603050405020304" pitchFamily="18" charset="0"/>
                <a:cs typeface="Times New Roman" panose="02020603050405020304" pitchFamily="18" charset="0"/>
              </a:rPr>
            </a:br>
            <a:r>
              <a:rPr lang="fr-FR" sz="2000" b="0" i="0" u="none" strike="noStrike" baseline="0" dirty="0">
                <a:solidFill>
                  <a:schemeClr val="tx1"/>
                </a:solidFill>
                <a:latin typeface="Times New Roman" panose="02020603050405020304" pitchFamily="18" charset="0"/>
                <a:cs typeface="Times New Roman" panose="02020603050405020304" pitchFamily="18" charset="0"/>
              </a:rPr>
              <a:t> 	    </a:t>
            </a:r>
            <a:r>
              <a:rPr lang="fr-FR" sz="2000" dirty="0">
                <a:solidFill>
                  <a:schemeClr val="tx1"/>
                </a:solidFill>
                <a:latin typeface="Times New Roman" panose="02020603050405020304" pitchFamily="18" charset="0"/>
                <a:cs typeface="Times New Roman" panose="02020603050405020304" pitchFamily="18" charset="0"/>
              </a:rPr>
              <a:t>            </a:t>
            </a:r>
            <a:br>
              <a:rPr lang="fr-FR" sz="2000" dirty="0">
                <a:solidFill>
                  <a:schemeClr val="tx1"/>
                </a:solidFill>
                <a:latin typeface="Times New Roman" panose="02020603050405020304" pitchFamily="18" charset="0"/>
                <a:cs typeface="Times New Roman" panose="02020603050405020304" pitchFamily="18" charset="0"/>
              </a:rPr>
            </a:br>
            <a:r>
              <a:rPr lang="fr-FR" sz="2000" dirty="0">
                <a:solidFill>
                  <a:schemeClr val="tx1"/>
                </a:solidFill>
                <a:latin typeface="Times New Roman" panose="02020603050405020304" pitchFamily="18" charset="0"/>
                <a:cs typeface="Times New Roman" panose="02020603050405020304" pitchFamily="18" charset="0"/>
              </a:rPr>
              <a:t>			</a:t>
            </a:r>
            <a:r>
              <a:rPr lang="en-IN" sz="2400" b="1" dirty="0">
                <a:solidFill>
                  <a:schemeClr val="tx1"/>
                </a:solidFill>
                <a:latin typeface="Times New Roman" panose="02020603050405020304" pitchFamily="18" charset="0"/>
                <a:cs typeface="Times New Roman" panose="02020603050405020304" pitchFamily="18" charset="0"/>
              </a:rPr>
              <a:t>COLLEGE OF ENGINEERING &amp; MANAGEMENT , KOLAGHAT</a:t>
            </a:r>
            <a:br>
              <a:rPr lang="en-IN" sz="2400" dirty="0">
                <a:solidFill>
                  <a:schemeClr val="tx1"/>
                </a:solidFill>
                <a:latin typeface="Times New Roman" panose="02020603050405020304" pitchFamily="18" charset="0"/>
                <a:cs typeface="Times New Roman" panose="02020603050405020304" pitchFamily="18" charset="0"/>
              </a:rPr>
            </a:br>
            <a:br>
              <a:rPr lang="en-IN" sz="2000" b="1" dirty="0">
                <a:solidFill>
                  <a:schemeClr val="tx1"/>
                </a:solidFill>
                <a:latin typeface="Times New Roman" panose="02020603050405020304" pitchFamily="18" charset="0"/>
                <a:cs typeface="Times New Roman" panose="02020603050405020304" pitchFamily="18" charset="0"/>
              </a:rPr>
            </a:br>
            <a:br>
              <a:rPr lang="en-IN" sz="2000" b="1" dirty="0">
                <a:solidFill>
                  <a:schemeClr val="tx1"/>
                </a:solidFill>
                <a:latin typeface="Times New Roman" panose="02020603050405020304" pitchFamily="18" charset="0"/>
                <a:cs typeface="Times New Roman" panose="02020603050405020304" pitchFamily="18" charset="0"/>
              </a:rPr>
            </a:br>
            <a:br>
              <a:rPr lang="en-IN" sz="2000" b="1" dirty="0">
                <a:solidFill>
                  <a:schemeClr val="tx1"/>
                </a:solidFill>
                <a:latin typeface="Times New Roman" panose="02020603050405020304" pitchFamily="18" charset="0"/>
                <a:cs typeface="Times New Roman" panose="02020603050405020304" pitchFamily="18" charset="0"/>
              </a:rPr>
            </a:br>
            <a:br>
              <a:rPr lang="en-IN" sz="2000" b="1" dirty="0">
                <a:solidFill>
                  <a:schemeClr val="tx1"/>
                </a:solidFill>
                <a:latin typeface="Times New Roman" panose="02020603050405020304" pitchFamily="18" charset="0"/>
                <a:cs typeface="Times New Roman" panose="02020603050405020304" pitchFamily="18" charset="0"/>
              </a:rPr>
            </a:br>
            <a:br>
              <a:rPr lang="en-IN" sz="2000" b="1" dirty="0">
                <a:solidFill>
                  <a:schemeClr val="tx1"/>
                </a:solidFill>
                <a:latin typeface="Times New Roman" panose="02020603050405020304" pitchFamily="18" charset="0"/>
                <a:cs typeface="Times New Roman" panose="02020603050405020304" pitchFamily="18" charset="0"/>
              </a:rPr>
            </a:br>
            <a:br>
              <a:rPr lang="en-IN" sz="2000" b="1" dirty="0">
                <a:solidFill>
                  <a:schemeClr val="tx1"/>
                </a:solidFill>
                <a:latin typeface="Times New Roman" panose="02020603050405020304" pitchFamily="18" charset="0"/>
                <a:cs typeface="Times New Roman" panose="02020603050405020304" pitchFamily="18" charset="0"/>
              </a:rPr>
            </a:br>
            <a:br>
              <a:rPr lang="en-IN" sz="2000" b="1" dirty="0">
                <a:solidFill>
                  <a:schemeClr val="tx1"/>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		</a:t>
            </a:r>
            <a:endParaRPr lang="en-IN" sz="2000" dirty="0">
              <a:solidFill>
                <a:schemeClr val="tx1"/>
              </a:solidFill>
              <a:latin typeface="Times New Roman" panose="02020603050405020304" pitchFamily="18" charset="0"/>
              <a:cs typeface="Times New Roman" panose="02020603050405020304" pitchFamily="18" charset="0"/>
            </a:endParaRPr>
          </a:p>
        </p:txBody>
      </p:sp>
      <p:pic>
        <p:nvPicPr>
          <p:cNvPr id="7" name="image1.jpeg">
            <a:extLst>
              <a:ext uri="{FF2B5EF4-FFF2-40B4-BE49-F238E27FC236}">
                <a16:creationId xmlns:a16="http://schemas.microsoft.com/office/drawing/2014/main" id="{2BCABAE2-95BE-4957-7449-70886D5CEE81}"/>
              </a:ext>
            </a:extLst>
          </p:cNvPr>
          <p:cNvPicPr>
            <a:picLocks noChangeAspect="1"/>
          </p:cNvPicPr>
          <p:nvPr/>
        </p:nvPicPr>
        <p:blipFill>
          <a:blip r:embed="rId3" cstate="print"/>
          <a:stretch>
            <a:fillRect/>
          </a:stretch>
        </p:blipFill>
        <p:spPr>
          <a:xfrm>
            <a:off x="9220200" y="2362200"/>
            <a:ext cx="1668646" cy="1686123"/>
          </a:xfrm>
          <a:prstGeom prst="rect">
            <a:avLst/>
          </a:prstGeom>
        </p:spPr>
      </p:pic>
      <p:sp>
        <p:nvSpPr>
          <p:cNvPr id="2" name="object 4">
            <a:extLst>
              <a:ext uri="{FF2B5EF4-FFF2-40B4-BE49-F238E27FC236}">
                <a16:creationId xmlns:a16="http://schemas.microsoft.com/office/drawing/2014/main" id="{4B6C6240-DF2F-E95B-0DEF-5603F57DE12E}"/>
              </a:ext>
            </a:extLst>
          </p:cNvPr>
          <p:cNvSpPr txBox="1"/>
          <p:nvPr/>
        </p:nvSpPr>
        <p:spPr>
          <a:xfrm>
            <a:off x="1955800" y="1676400"/>
            <a:ext cx="9843770" cy="3939989"/>
          </a:xfrm>
          <a:prstGeom prst="rect">
            <a:avLst/>
          </a:prstGeom>
        </p:spPr>
        <p:txBody>
          <a:bodyPr vert="horz" wrap="square" lIns="0" tIns="13335" rIns="0" bIns="0" rtlCol="0">
            <a:spAutoFit/>
          </a:bodyPr>
          <a:lstStyle/>
          <a:p>
            <a:pPr>
              <a:lnSpc>
                <a:spcPts val="3000"/>
              </a:lnSpc>
              <a:spcBef>
                <a:spcPts val="105"/>
              </a:spcBef>
            </a:pPr>
            <a:r>
              <a:rPr sz="2000" b="1" dirty="0">
                <a:solidFill>
                  <a:srgbClr val="172935"/>
                </a:solidFill>
                <a:latin typeface="Times New Roman"/>
                <a:cs typeface="Times New Roman"/>
              </a:rPr>
              <a:t>SUBJECT</a:t>
            </a:r>
            <a:r>
              <a:rPr sz="2000" spc="-65" dirty="0">
                <a:solidFill>
                  <a:srgbClr val="172935"/>
                </a:solidFill>
                <a:latin typeface="Times New Roman"/>
                <a:cs typeface="Times New Roman"/>
              </a:rPr>
              <a:t> </a:t>
            </a:r>
            <a:r>
              <a:rPr sz="2000" dirty="0">
                <a:solidFill>
                  <a:srgbClr val="172935"/>
                </a:solidFill>
                <a:latin typeface="Times New Roman"/>
                <a:cs typeface="Times New Roman"/>
              </a:rPr>
              <a:t>–</a:t>
            </a:r>
            <a:r>
              <a:rPr sz="2000" spc="-35" dirty="0">
                <a:solidFill>
                  <a:srgbClr val="172935"/>
                </a:solidFill>
                <a:latin typeface="Times New Roman"/>
                <a:cs typeface="Times New Roman"/>
              </a:rPr>
              <a:t> </a:t>
            </a:r>
            <a:r>
              <a:rPr lang="en-IN" sz="2000" spc="-10" dirty="0">
                <a:solidFill>
                  <a:srgbClr val="172935"/>
                </a:solidFill>
                <a:latin typeface="Times New Roman"/>
                <a:cs typeface="Times New Roman"/>
              </a:rPr>
              <a:t>WEB AND INTERNET TECHNOLOGY</a:t>
            </a:r>
            <a:endParaRPr lang="en-IN" sz="2000" spc="-20" dirty="0">
              <a:latin typeface="Times New Roman"/>
              <a:cs typeface="Times New Roman"/>
            </a:endParaRPr>
          </a:p>
          <a:p>
            <a:pPr>
              <a:lnSpc>
                <a:spcPts val="3000"/>
              </a:lnSpc>
              <a:spcBef>
                <a:spcPts val="105"/>
              </a:spcBef>
            </a:pPr>
            <a:r>
              <a:rPr sz="2000" b="1" dirty="0">
                <a:latin typeface="Times New Roman"/>
                <a:cs typeface="Times New Roman"/>
              </a:rPr>
              <a:t>SUBJECT</a:t>
            </a:r>
            <a:r>
              <a:rPr sz="2000" b="1" spc="-55" dirty="0">
                <a:latin typeface="Times New Roman"/>
                <a:cs typeface="Times New Roman"/>
              </a:rPr>
              <a:t> </a:t>
            </a:r>
            <a:r>
              <a:rPr sz="2000" b="1" dirty="0">
                <a:latin typeface="Times New Roman"/>
                <a:cs typeface="Times New Roman"/>
              </a:rPr>
              <a:t>CODE</a:t>
            </a:r>
            <a:r>
              <a:rPr sz="2000" b="1" spc="-10" dirty="0">
                <a:latin typeface="Times New Roman"/>
                <a:cs typeface="Times New Roman"/>
              </a:rPr>
              <a:t> </a:t>
            </a:r>
            <a:r>
              <a:rPr sz="2000" dirty="0">
                <a:latin typeface="Times New Roman"/>
                <a:cs typeface="Times New Roman"/>
              </a:rPr>
              <a:t>–</a:t>
            </a:r>
            <a:r>
              <a:rPr sz="2000" spc="-20" dirty="0">
                <a:latin typeface="Times New Roman"/>
                <a:cs typeface="Times New Roman"/>
              </a:rPr>
              <a:t> </a:t>
            </a:r>
            <a:r>
              <a:rPr lang="en-IN" sz="2000" spc="-20" dirty="0">
                <a:latin typeface="Times New Roman"/>
                <a:cs typeface="Times New Roman"/>
              </a:rPr>
              <a:t>PEC</a:t>
            </a:r>
            <a:r>
              <a:rPr lang="en-IN" sz="2000" dirty="0">
                <a:latin typeface="Times New Roman"/>
                <a:cs typeface="Times New Roman"/>
              </a:rPr>
              <a:t>–</a:t>
            </a:r>
            <a:r>
              <a:rPr sz="2000" spc="-15" dirty="0">
                <a:latin typeface="Times New Roman"/>
                <a:cs typeface="Times New Roman"/>
              </a:rPr>
              <a:t> </a:t>
            </a:r>
            <a:r>
              <a:rPr lang="en-IN" sz="2000" spc="-25" dirty="0">
                <a:latin typeface="Times New Roman"/>
                <a:cs typeface="Times New Roman"/>
              </a:rPr>
              <a:t>CS801D</a:t>
            </a:r>
          </a:p>
          <a:p>
            <a:pPr>
              <a:lnSpc>
                <a:spcPts val="3000"/>
              </a:lnSpc>
              <a:spcBef>
                <a:spcPts val="105"/>
              </a:spcBef>
            </a:pPr>
            <a:r>
              <a:rPr sz="2000" b="1" dirty="0">
                <a:latin typeface="Times New Roman"/>
                <a:cs typeface="Times New Roman"/>
              </a:rPr>
              <a:t>NAME</a:t>
            </a:r>
            <a:r>
              <a:rPr sz="2000" b="1" spc="-25" dirty="0">
                <a:latin typeface="Times New Roman"/>
                <a:cs typeface="Times New Roman"/>
              </a:rPr>
              <a:t> </a:t>
            </a:r>
            <a:r>
              <a:rPr sz="2000" b="1" dirty="0">
                <a:latin typeface="Times New Roman"/>
                <a:cs typeface="Times New Roman"/>
              </a:rPr>
              <a:t>–</a:t>
            </a:r>
            <a:r>
              <a:rPr sz="2000" b="1" spc="-5" dirty="0">
                <a:latin typeface="Times New Roman"/>
                <a:cs typeface="Times New Roman"/>
              </a:rPr>
              <a:t> </a:t>
            </a:r>
            <a:endParaRPr lang="en-IN" sz="2000" spc="-10" dirty="0">
              <a:latin typeface="Times New Roman"/>
              <a:cs typeface="Times New Roman"/>
            </a:endParaRPr>
          </a:p>
          <a:p>
            <a:pPr>
              <a:lnSpc>
                <a:spcPts val="3000"/>
              </a:lnSpc>
              <a:spcBef>
                <a:spcPts val="105"/>
              </a:spcBef>
            </a:pPr>
            <a:r>
              <a:rPr sz="2000" b="1" dirty="0">
                <a:latin typeface="Times New Roman"/>
                <a:cs typeface="Times New Roman"/>
              </a:rPr>
              <a:t>UNIVERSITY</a:t>
            </a:r>
            <a:r>
              <a:rPr sz="2000" b="1" spc="-105" dirty="0">
                <a:latin typeface="Times New Roman"/>
                <a:cs typeface="Times New Roman"/>
              </a:rPr>
              <a:t> </a:t>
            </a:r>
            <a:r>
              <a:rPr sz="2000" b="1" spc="-10" dirty="0">
                <a:latin typeface="Times New Roman"/>
                <a:cs typeface="Times New Roman"/>
              </a:rPr>
              <a:t>ROLL</a:t>
            </a:r>
            <a:r>
              <a:rPr sz="2000" b="1" spc="-90" dirty="0">
                <a:latin typeface="Times New Roman"/>
                <a:cs typeface="Times New Roman"/>
              </a:rPr>
              <a:t> </a:t>
            </a:r>
            <a:r>
              <a:rPr sz="2000" b="1" dirty="0">
                <a:latin typeface="Times New Roman"/>
                <a:cs typeface="Times New Roman"/>
              </a:rPr>
              <a:t>NO</a:t>
            </a:r>
            <a:r>
              <a:rPr sz="2000" b="1" spc="-15" dirty="0">
                <a:latin typeface="Times New Roman"/>
                <a:cs typeface="Times New Roman"/>
              </a:rPr>
              <a:t> </a:t>
            </a:r>
            <a:r>
              <a:rPr sz="2000" dirty="0">
                <a:latin typeface="Times New Roman"/>
                <a:cs typeface="Times New Roman"/>
              </a:rPr>
              <a:t>–</a:t>
            </a:r>
            <a:r>
              <a:rPr sz="2000" spc="-20" dirty="0">
                <a:latin typeface="Times New Roman"/>
                <a:cs typeface="Times New Roman"/>
              </a:rPr>
              <a:t> </a:t>
            </a:r>
            <a:endParaRPr lang="en-IN" sz="2000" spc="-10" dirty="0">
              <a:latin typeface="Times New Roman"/>
              <a:cs typeface="Times New Roman"/>
            </a:endParaRPr>
          </a:p>
          <a:p>
            <a:pPr>
              <a:lnSpc>
                <a:spcPts val="3000"/>
              </a:lnSpc>
              <a:spcBef>
                <a:spcPts val="105"/>
              </a:spcBef>
            </a:pPr>
            <a:r>
              <a:rPr sz="2000" b="1" dirty="0">
                <a:latin typeface="Times New Roman"/>
                <a:cs typeface="Times New Roman"/>
              </a:rPr>
              <a:t>UNIVERSITY</a:t>
            </a:r>
            <a:r>
              <a:rPr sz="2000" b="1" spc="-110" dirty="0">
                <a:latin typeface="Times New Roman"/>
                <a:cs typeface="Times New Roman"/>
              </a:rPr>
              <a:t> </a:t>
            </a:r>
            <a:r>
              <a:rPr sz="2000" b="1" dirty="0">
                <a:latin typeface="Times New Roman"/>
                <a:cs typeface="Times New Roman"/>
              </a:rPr>
              <a:t>REG.</a:t>
            </a:r>
            <a:r>
              <a:rPr sz="2000" b="1" spc="-25" dirty="0">
                <a:latin typeface="Times New Roman"/>
                <a:cs typeface="Times New Roman"/>
              </a:rPr>
              <a:t> </a:t>
            </a:r>
            <a:r>
              <a:rPr sz="2000" b="1" dirty="0">
                <a:latin typeface="Times New Roman"/>
                <a:cs typeface="Times New Roman"/>
              </a:rPr>
              <a:t>NO</a:t>
            </a:r>
            <a:r>
              <a:rPr sz="2000" b="1" spc="-15" dirty="0">
                <a:latin typeface="Times New Roman"/>
                <a:cs typeface="Times New Roman"/>
              </a:rPr>
              <a:t> </a:t>
            </a:r>
            <a:r>
              <a:rPr sz="2000" dirty="0">
                <a:latin typeface="Times New Roman"/>
                <a:cs typeface="Times New Roman"/>
              </a:rPr>
              <a:t>–</a:t>
            </a:r>
            <a:r>
              <a:rPr sz="2000" spc="-30" dirty="0">
                <a:latin typeface="Times New Roman"/>
                <a:cs typeface="Times New Roman"/>
              </a:rPr>
              <a:t> </a:t>
            </a:r>
            <a:endParaRPr lang="en-IN" sz="2000" spc="-10" dirty="0">
              <a:latin typeface="Times New Roman"/>
              <a:cs typeface="Times New Roman"/>
            </a:endParaRPr>
          </a:p>
          <a:p>
            <a:pPr>
              <a:lnSpc>
                <a:spcPts val="3000"/>
              </a:lnSpc>
              <a:spcBef>
                <a:spcPts val="105"/>
              </a:spcBef>
            </a:pPr>
            <a:r>
              <a:rPr sz="2000" b="1" dirty="0">
                <a:latin typeface="Times New Roman"/>
                <a:cs typeface="Times New Roman"/>
              </a:rPr>
              <a:t>COLLEGE</a:t>
            </a:r>
            <a:r>
              <a:rPr sz="2000" b="1" spc="-30" dirty="0">
                <a:latin typeface="Times New Roman"/>
                <a:cs typeface="Times New Roman"/>
              </a:rPr>
              <a:t> </a:t>
            </a:r>
            <a:r>
              <a:rPr sz="2000" b="1" spc="-10" dirty="0">
                <a:latin typeface="Times New Roman"/>
                <a:cs typeface="Times New Roman"/>
              </a:rPr>
              <a:t>ROLL</a:t>
            </a:r>
            <a:r>
              <a:rPr sz="2000" b="1" spc="-105" dirty="0">
                <a:latin typeface="Times New Roman"/>
                <a:cs typeface="Times New Roman"/>
              </a:rPr>
              <a:t> </a:t>
            </a:r>
            <a:r>
              <a:rPr sz="2000" b="1" dirty="0">
                <a:latin typeface="Times New Roman"/>
                <a:cs typeface="Times New Roman"/>
              </a:rPr>
              <a:t>NO</a:t>
            </a:r>
            <a:r>
              <a:rPr sz="2000" b="1" spc="-30" dirty="0">
                <a:latin typeface="Times New Roman"/>
                <a:cs typeface="Times New Roman"/>
              </a:rPr>
              <a:t> </a:t>
            </a:r>
            <a:r>
              <a:rPr sz="2000" dirty="0">
                <a:latin typeface="Times New Roman"/>
                <a:cs typeface="Times New Roman"/>
              </a:rPr>
              <a:t>–</a:t>
            </a:r>
            <a:r>
              <a:rPr sz="2000" spc="-40" dirty="0">
                <a:latin typeface="Times New Roman"/>
                <a:cs typeface="Times New Roman"/>
              </a:rPr>
              <a:t> </a:t>
            </a:r>
            <a:endParaRPr lang="en-IN" sz="2000" dirty="0">
              <a:latin typeface="Times New Roman"/>
              <a:cs typeface="Times New Roman"/>
            </a:endParaRPr>
          </a:p>
          <a:p>
            <a:pPr>
              <a:lnSpc>
                <a:spcPts val="3000"/>
              </a:lnSpc>
              <a:spcBef>
                <a:spcPts val="105"/>
              </a:spcBef>
            </a:pPr>
            <a:r>
              <a:rPr sz="2000" b="1" spc="-35" dirty="0">
                <a:latin typeface="Times New Roman"/>
                <a:cs typeface="Times New Roman"/>
              </a:rPr>
              <a:t>DEPARTMENT</a:t>
            </a:r>
            <a:r>
              <a:rPr sz="2000" spc="-60" dirty="0">
                <a:latin typeface="Times New Roman"/>
                <a:cs typeface="Times New Roman"/>
              </a:rPr>
              <a:t> </a:t>
            </a:r>
            <a:r>
              <a:rPr sz="2000" dirty="0">
                <a:latin typeface="Times New Roman"/>
                <a:cs typeface="Times New Roman"/>
              </a:rPr>
              <a:t>–</a:t>
            </a:r>
            <a:r>
              <a:rPr sz="2000" spc="-15" dirty="0">
                <a:latin typeface="Times New Roman"/>
                <a:cs typeface="Times New Roman"/>
              </a:rPr>
              <a:t> </a:t>
            </a:r>
            <a:r>
              <a:rPr sz="2000" dirty="0">
                <a:latin typeface="Times New Roman"/>
                <a:cs typeface="Times New Roman"/>
              </a:rPr>
              <a:t>COMPUTER</a:t>
            </a:r>
            <a:r>
              <a:rPr sz="2000" spc="-25" dirty="0">
                <a:latin typeface="Times New Roman"/>
                <a:cs typeface="Times New Roman"/>
              </a:rPr>
              <a:t> </a:t>
            </a:r>
            <a:r>
              <a:rPr sz="2000" dirty="0">
                <a:latin typeface="Times New Roman"/>
                <a:cs typeface="Times New Roman"/>
              </a:rPr>
              <a:t>SCIENCE</a:t>
            </a:r>
            <a:r>
              <a:rPr sz="2000" spc="-12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spc="-10" dirty="0">
                <a:latin typeface="Times New Roman"/>
                <a:cs typeface="Times New Roman"/>
              </a:rPr>
              <a:t>ENGINEERING</a:t>
            </a:r>
            <a:endParaRPr lang="en-IN" sz="2000" spc="-10" dirty="0">
              <a:latin typeface="Times New Roman"/>
              <a:cs typeface="Times New Roman"/>
            </a:endParaRPr>
          </a:p>
          <a:p>
            <a:pPr>
              <a:lnSpc>
                <a:spcPts val="3000"/>
              </a:lnSpc>
              <a:spcBef>
                <a:spcPts val="105"/>
              </a:spcBef>
            </a:pPr>
            <a:r>
              <a:rPr sz="2000" b="1" dirty="0">
                <a:latin typeface="Times New Roman"/>
                <a:cs typeface="Times New Roman"/>
              </a:rPr>
              <a:t>SECTION</a:t>
            </a:r>
            <a:r>
              <a:rPr sz="2000" spc="-45" dirty="0">
                <a:latin typeface="Times New Roman"/>
                <a:cs typeface="Times New Roman"/>
              </a:rPr>
              <a:t> </a:t>
            </a:r>
            <a:r>
              <a:rPr sz="2000" dirty="0">
                <a:latin typeface="Times New Roman"/>
                <a:cs typeface="Times New Roman"/>
              </a:rPr>
              <a:t>–</a:t>
            </a:r>
            <a:r>
              <a:rPr sz="2000" spc="-45" dirty="0">
                <a:latin typeface="Times New Roman"/>
                <a:cs typeface="Times New Roman"/>
              </a:rPr>
              <a:t> </a:t>
            </a:r>
            <a:r>
              <a:rPr sz="2000" spc="-25" dirty="0">
                <a:latin typeface="Times New Roman"/>
                <a:cs typeface="Times New Roman"/>
              </a:rPr>
              <a:t>C</a:t>
            </a:r>
            <a:endParaRPr lang="en-IN" sz="2000" spc="-25" dirty="0">
              <a:latin typeface="Times New Roman"/>
              <a:cs typeface="Times New Roman"/>
            </a:endParaRPr>
          </a:p>
          <a:p>
            <a:pPr>
              <a:lnSpc>
                <a:spcPts val="3000"/>
              </a:lnSpc>
              <a:spcBef>
                <a:spcPts val="105"/>
              </a:spcBef>
            </a:pPr>
            <a:r>
              <a:rPr sz="2000" b="1" dirty="0">
                <a:latin typeface="Times New Roman"/>
                <a:cs typeface="Times New Roman"/>
              </a:rPr>
              <a:t>ACADEMIC</a:t>
            </a:r>
            <a:r>
              <a:rPr sz="2000" b="1" spc="-30" dirty="0">
                <a:latin typeface="Times New Roman"/>
                <a:cs typeface="Times New Roman"/>
              </a:rPr>
              <a:t> </a:t>
            </a:r>
            <a:r>
              <a:rPr sz="2000" b="1" dirty="0">
                <a:latin typeface="Times New Roman"/>
                <a:cs typeface="Times New Roman"/>
              </a:rPr>
              <a:t>SESSION</a:t>
            </a:r>
            <a:r>
              <a:rPr sz="2000" b="1" spc="-20" dirty="0">
                <a:latin typeface="Times New Roman"/>
                <a:cs typeface="Times New Roman"/>
              </a:rPr>
              <a:t> </a:t>
            </a:r>
            <a:r>
              <a:rPr sz="2000" dirty="0">
                <a:latin typeface="Times New Roman"/>
                <a:cs typeface="Times New Roman"/>
              </a:rPr>
              <a:t>–</a:t>
            </a:r>
            <a:r>
              <a:rPr sz="2000" spc="-20" dirty="0">
                <a:latin typeface="Times New Roman"/>
                <a:cs typeface="Times New Roman"/>
              </a:rPr>
              <a:t> </a:t>
            </a:r>
            <a:r>
              <a:rPr sz="2000" dirty="0">
                <a:latin typeface="Times New Roman"/>
                <a:cs typeface="Times New Roman"/>
              </a:rPr>
              <a:t>202</a:t>
            </a:r>
            <a:r>
              <a:rPr lang="en-IN" sz="2000" dirty="0">
                <a:latin typeface="Times New Roman"/>
                <a:cs typeface="Times New Roman"/>
              </a:rPr>
              <a:t>5</a:t>
            </a:r>
            <a:r>
              <a:rPr sz="2000" spc="-40" dirty="0">
                <a:latin typeface="Times New Roman"/>
                <a:cs typeface="Times New Roman"/>
              </a:rPr>
              <a:t> </a:t>
            </a:r>
            <a:r>
              <a:rPr sz="2000" dirty="0">
                <a:latin typeface="Times New Roman"/>
                <a:cs typeface="Times New Roman"/>
              </a:rPr>
              <a:t>–</a:t>
            </a:r>
            <a:r>
              <a:rPr sz="2000" spc="-20" dirty="0">
                <a:latin typeface="Times New Roman"/>
                <a:cs typeface="Times New Roman"/>
              </a:rPr>
              <a:t> 202</a:t>
            </a:r>
            <a:r>
              <a:rPr lang="en-IN" sz="2000" spc="-20" dirty="0">
                <a:latin typeface="Times New Roman"/>
                <a:cs typeface="Times New Roman"/>
              </a:rPr>
              <a:t>6</a:t>
            </a:r>
          </a:p>
          <a:p>
            <a:pPr>
              <a:lnSpc>
                <a:spcPts val="3000"/>
              </a:lnSpc>
              <a:spcBef>
                <a:spcPts val="105"/>
              </a:spcBef>
            </a:pPr>
            <a:endParaRPr sz="20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C61A0-6E36-32E9-7F29-A279154F38D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7E98630-1F31-4794-832A-A859126B8B7C}"/>
              </a:ext>
            </a:extLst>
          </p:cNvPr>
          <p:cNvSpPr/>
          <p:nvPr/>
        </p:nvSpPr>
        <p:spPr>
          <a:xfrm>
            <a:off x="0" y="714756"/>
            <a:ext cx="1592580" cy="508000"/>
          </a:xfrm>
          <a:custGeom>
            <a:avLst/>
            <a:gdLst/>
            <a:ahLst/>
            <a:cxnLst/>
            <a:rect l="l" t="t" r="r" b="b"/>
            <a:pathLst>
              <a:path w="1592580" h="508000">
                <a:moveTo>
                  <a:pt x="0" y="0"/>
                </a:moveTo>
                <a:lnTo>
                  <a:pt x="0" y="503948"/>
                </a:lnTo>
                <a:lnTo>
                  <a:pt x="1245844" y="507491"/>
                </a:lnTo>
                <a:lnTo>
                  <a:pt x="1346200" y="507491"/>
                </a:lnTo>
                <a:lnTo>
                  <a:pt x="1350899" y="502665"/>
                </a:lnTo>
                <a:lnTo>
                  <a:pt x="1352423" y="501141"/>
                </a:lnTo>
                <a:lnTo>
                  <a:pt x="1354328" y="499617"/>
                </a:lnTo>
                <a:lnTo>
                  <a:pt x="1355852" y="497966"/>
                </a:lnTo>
                <a:lnTo>
                  <a:pt x="1584960" y="268858"/>
                </a:lnTo>
                <a:lnTo>
                  <a:pt x="1590246" y="261714"/>
                </a:lnTo>
                <a:lnTo>
                  <a:pt x="1592008" y="254571"/>
                </a:lnTo>
                <a:lnTo>
                  <a:pt x="1590246" y="247427"/>
                </a:lnTo>
                <a:lnTo>
                  <a:pt x="1584960" y="240283"/>
                </a:lnTo>
                <a:lnTo>
                  <a:pt x="1355852" y="11302"/>
                </a:lnTo>
                <a:lnTo>
                  <a:pt x="1350899" y="11302"/>
                </a:lnTo>
                <a:lnTo>
                  <a:pt x="1350899" y="6476"/>
                </a:lnTo>
                <a:lnTo>
                  <a:pt x="1346200" y="6476"/>
                </a:lnTo>
                <a:lnTo>
                  <a:pt x="1341374" y="1777"/>
                </a:lnTo>
                <a:lnTo>
                  <a:pt x="1245844" y="1777"/>
                </a:lnTo>
                <a:lnTo>
                  <a:pt x="0" y="0"/>
                </a:lnTo>
                <a:close/>
              </a:path>
            </a:pathLst>
          </a:custGeom>
          <a:solidFill>
            <a:srgbClr val="353535"/>
          </a:solidFill>
        </p:spPr>
        <p:txBody>
          <a:bodyPr wrap="square" lIns="0" tIns="0" rIns="0" bIns="0" rtlCol="0"/>
          <a:lstStyle/>
          <a:p>
            <a:endParaRPr/>
          </a:p>
        </p:txBody>
      </p:sp>
      <p:sp>
        <p:nvSpPr>
          <p:cNvPr id="3" name="object 3">
            <a:extLst>
              <a:ext uri="{FF2B5EF4-FFF2-40B4-BE49-F238E27FC236}">
                <a16:creationId xmlns:a16="http://schemas.microsoft.com/office/drawing/2014/main" id="{CE0738D1-41B6-C99C-34E3-FD95CDA3499A}"/>
              </a:ext>
            </a:extLst>
          </p:cNvPr>
          <p:cNvSpPr txBox="1">
            <a:spLocks noGrp="1"/>
          </p:cNvSpPr>
          <p:nvPr>
            <p:ph type="title"/>
          </p:nvPr>
        </p:nvSpPr>
        <p:spPr>
          <a:xfrm>
            <a:off x="1905000" y="601057"/>
            <a:ext cx="8911687" cy="603499"/>
          </a:xfrm>
          <a:prstGeom prst="rect">
            <a:avLst/>
          </a:prstGeom>
        </p:spPr>
        <p:txBody>
          <a:bodyPr vert="horz" wrap="square" lIns="0" tIns="231902" rIns="0" bIns="0" rtlCol="0">
            <a:spAutoFit/>
          </a:bodyPr>
          <a:lstStyle/>
          <a:p>
            <a:pPr lvl="0"/>
            <a:r>
              <a:rPr lang="en-US" sz="2400" b="1" dirty="0">
                <a:solidFill>
                  <a:schemeClr val="tx1"/>
                </a:solidFill>
                <a:latin typeface="Times New Roman" panose="02020603050405020304" pitchFamily="18" charset="0"/>
                <a:cs typeface="Times New Roman" panose="02020603050405020304" pitchFamily="18" charset="0"/>
              </a:rPr>
              <a:t>TABLE OF CONTENT</a:t>
            </a:r>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A674550E-E4BF-96E4-A11B-2B990CE5A594}"/>
              </a:ext>
            </a:extLst>
          </p:cNvPr>
          <p:cNvSpPr>
            <a:spLocks noChangeArrowheads="1"/>
          </p:cNvSpPr>
          <p:nvPr/>
        </p:nvSpPr>
        <p:spPr bwMode="auto">
          <a:xfrm>
            <a:off x="2209800" y="1981200"/>
            <a:ext cx="9304020" cy="2381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nSpc>
                <a:spcPts val="25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Write the Difference between intranet extranet and internet extranet?</a:t>
            </a:r>
          </a:p>
          <a:p>
            <a:pPr marL="285750" indent="-285750">
              <a:lnSpc>
                <a:spcPts val="25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What is World Wide Web?</a:t>
            </a:r>
          </a:p>
          <a:p>
            <a:pPr marL="285750" indent="-285750">
              <a:lnSpc>
                <a:spcPts val="25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What is HTTP? </a:t>
            </a:r>
          </a:p>
          <a:p>
            <a:pPr marL="285750" indent="-285750">
              <a:lnSpc>
                <a:spcPts val="25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What Does Three-Way Handshake Mean?</a:t>
            </a:r>
            <a:endParaRPr lang="en-US" i="0" dirty="0">
              <a:effectLst/>
              <a:latin typeface="Times New Roman" panose="02020603050405020304" pitchFamily="18" charset="0"/>
              <a:cs typeface="Times New Roman" panose="02020603050405020304" pitchFamily="18" charset="0"/>
            </a:endParaRPr>
          </a:p>
          <a:p>
            <a:pPr marL="285750" indent="-285750" algn="l">
              <a:lnSpc>
                <a:spcPts val="25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Conclusion</a:t>
            </a:r>
          </a:p>
          <a:p>
            <a:pPr marL="285750" indent="-285750" algn="l">
              <a:lnSpc>
                <a:spcPts val="2500"/>
              </a:lnSpc>
              <a:buFont typeface="Wingdings" panose="05000000000000000000" pitchFamily="2" charset="2"/>
              <a:buChar char="Ø"/>
            </a:pPr>
            <a:r>
              <a:rPr lang="en-US" i="0" dirty="0">
                <a:effectLst/>
                <a:latin typeface="Times New Roman" panose="02020603050405020304" pitchFamily="18" charset="0"/>
                <a:cs typeface="Times New Roman" panose="02020603050405020304" pitchFamily="18" charset="0"/>
              </a:rPr>
              <a:t>References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8732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B4525-1461-421A-0D03-67257775409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90479FF-28E4-98FC-C3F4-73176EDD3817}"/>
              </a:ext>
            </a:extLst>
          </p:cNvPr>
          <p:cNvSpPr/>
          <p:nvPr/>
        </p:nvSpPr>
        <p:spPr>
          <a:xfrm>
            <a:off x="0" y="714756"/>
            <a:ext cx="1592580" cy="508000"/>
          </a:xfrm>
          <a:custGeom>
            <a:avLst/>
            <a:gdLst/>
            <a:ahLst/>
            <a:cxnLst/>
            <a:rect l="l" t="t" r="r" b="b"/>
            <a:pathLst>
              <a:path w="1592580" h="508000">
                <a:moveTo>
                  <a:pt x="0" y="0"/>
                </a:moveTo>
                <a:lnTo>
                  <a:pt x="0" y="503948"/>
                </a:lnTo>
                <a:lnTo>
                  <a:pt x="1245844" y="507491"/>
                </a:lnTo>
                <a:lnTo>
                  <a:pt x="1346200" y="507491"/>
                </a:lnTo>
                <a:lnTo>
                  <a:pt x="1350899" y="502665"/>
                </a:lnTo>
                <a:lnTo>
                  <a:pt x="1352423" y="501141"/>
                </a:lnTo>
                <a:lnTo>
                  <a:pt x="1354328" y="499617"/>
                </a:lnTo>
                <a:lnTo>
                  <a:pt x="1355852" y="497966"/>
                </a:lnTo>
                <a:lnTo>
                  <a:pt x="1584960" y="268858"/>
                </a:lnTo>
                <a:lnTo>
                  <a:pt x="1590246" y="261714"/>
                </a:lnTo>
                <a:lnTo>
                  <a:pt x="1592008" y="254571"/>
                </a:lnTo>
                <a:lnTo>
                  <a:pt x="1590246" y="247427"/>
                </a:lnTo>
                <a:lnTo>
                  <a:pt x="1584960" y="240283"/>
                </a:lnTo>
                <a:lnTo>
                  <a:pt x="1355852" y="11302"/>
                </a:lnTo>
                <a:lnTo>
                  <a:pt x="1350899" y="11302"/>
                </a:lnTo>
                <a:lnTo>
                  <a:pt x="1350899" y="6476"/>
                </a:lnTo>
                <a:lnTo>
                  <a:pt x="1346200" y="6476"/>
                </a:lnTo>
                <a:lnTo>
                  <a:pt x="1341374" y="1777"/>
                </a:lnTo>
                <a:lnTo>
                  <a:pt x="1245844" y="1777"/>
                </a:lnTo>
                <a:lnTo>
                  <a:pt x="0" y="0"/>
                </a:lnTo>
                <a:close/>
              </a:path>
            </a:pathLst>
          </a:custGeom>
          <a:solidFill>
            <a:srgbClr val="353535"/>
          </a:solidFill>
        </p:spPr>
        <p:txBody>
          <a:bodyPr wrap="square" lIns="0" tIns="0" rIns="0" bIns="0" rtlCol="0"/>
          <a:lstStyle/>
          <a:p>
            <a:endParaRPr/>
          </a:p>
        </p:txBody>
      </p:sp>
      <p:sp>
        <p:nvSpPr>
          <p:cNvPr id="3" name="object 3">
            <a:extLst>
              <a:ext uri="{FF2B5EF4-FFF2-40B4-BE49-F238E27FC236}">
                <a16:creationId xmlns:a16="http://schemas.microsoft.com/office/drawing/2014/main" id="{044DA645-52C4-F8CA-1641-C8F48F84625A}"/>
              </a:ext>
            </a:extLst>
          </p:cNvPr>
          <p:cNvSpPr txBox="1">
            <a:spLocks noGrp="1"/>
          </p:cNvSpPr>
          <p:nvPr>
            <p:ph type="title"/>
          </p:nvPr>
        </p:nvSpPr>
        <p:spPr>
          <a:xfrm>
            <a:off x="1905000" y="601057"/>
            <a:ext cx="8911687" cy="1157496"/>
          </a:xfrm>
          <a:prstGeom prst="rect">
            <a:avLst/>
          </a:prstGeom>
        </p:spPr>
        <p:txBody>
          <a:bodyPr vert="horz" wrap="square" lIns="0" tIns="231902" rIns="0" bIns="0" rtlCol="0">
            <a:spAutoFit/>
          </a:bodyPr>
          <a:lstStyle/>
          <a:p>
            <a:r>
              <a:rPr lang="en-US" sz="2000" b="1" dirty="0">
                <a:latin typeface="Times New Roman" panose="02020603050405020304" pitchFamily="18" charset="0"/>
                <a:cs typeface="Times New Roman" panose="02020603050405020304" pitchFamily="18" charset="0"/>
              </a:rPr>
              <a:t>WRITE THE DIFFERENCE BETWEEN INTRANET EXTRANET AND INTERNET EXTRANET?</a:t>
            </a:r>
            <a:br>
              <a:rPr lang="en-US" sz="2000" b="1" dirty="0">
                <a:latin typeface="Times New Roman" panose="02020603050405020304" pitchFamily="18" charset="0"/>
                <a:cs typeface="Times New Roman" panose="02020603050405020304" pitchFamily="18" charset="0"/>
              </a:rPr>
            </a:br>
            <a:endParaRPr lang="en-IN" sz="20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26A8A213-A9B6-3D5F-C427-EAC4C9A89D07}"/>
              </a:ext>
            </a:extLst>
          </p:cNvPr>
          <p:cNvGraphicFramePr>
            <a:graphicFrameLocks noGrp="1"/>
          </p:cNvGraphicFramePr>
          <p:nvPr>
            <p:extLst>
              <p:ext uri="{D42A27DB-BD31-4B8C-83A1-F6EECF244321}">
                <p14:modId xmlns:p14="http://schemas.microsoft.com/office/powerpoint/2010/main" val="1487458375"/>
              </p:ext>
            </p:extLst>
          </p:nvPr>
        </p:nvGraphicFramePr>
        <p:xfrm>
          <a:off x="1828800" y="1600200"/>
          <a:ext cx="9269732" cy="4924425"/>
        </p:xfrm>
        <a:graphic>
          <a:graphicData uri="http://schemas.openxmlformats.org/drawingml/2006/table">
            <a:tbl>
              <a:tblPr firstRow="1" bandRow="1">
                <a:tableStyleId>{5C22544A-7EE6-4342-B048-85BDC9FD1C3A}</a:tableStyleId>
              </a:tblPr>
              <a:tblGrid>
                <a:gridCol w="2317433">
                  <a:extLst>
                    <a:ext uri="{9D8B030D-6E8A-4147-A177-3AD203B41FA5}">
                      <a16:colId xmlns:a16="http://schemas.microsoft.com/office/drawing/2014/main" val="3339999696"/>
                    </a:ext>
                  </a:extLst>
                </a:gridCol>
                <a:gridCol w="2317433">
                  <a:extLst>
                    <a:ext uri="{9D8B030D-6E8A-4147-A177-3AD203B41FA5}">
                      <a16:colId xmlns:a16="http://schemas.microsoft.com/office/drawing/2014/main" val="3971431570"/>
                    </a:ext>
                  </a:extLst>
                </a:gridCol>
                <a:gridCol w="2317433">
                  <a:extLst>
                    <a:ext uri="{9D8B030D-6E8A-4147-A177-3AD203B41FA5}">
                      <a16:colId xmlns:a16="http://schemas.microsoft.com/office/drawing/2014/main" val="2326305498"/>
                    </a:ext>
                  </a:extLst>
                </a:gridCol>
                <a:gridCol w="2317433">
                  <a:extLst>
                    <a:ext uri="{9D8B030D-6E8A-4147-A177-3AD203B41FA5}">
                      <a16:colId xmlns:a16="http://schemas.microsoft.com/office/drawing/2014/main" val="1510891115"/>
                    </a:ext>
                  </a:extLst>
                </a:gridCol>
              </a:tblGrid>
              <a:tr h="733425">
                <a:tc>
                  <a:txBody>
                    <a:bodyPr/>
                    <a:lstStyle/>
                    <a:p>
                      <a:pPr algn="ctr"/>
                      <a:r>
                        <a:rPr lang="en-IN" dirty="0">
                          <a:latin typeface="Times New Roman" panose="02020603050405020304" pitchFamily="18" charset="0"/>
                          <a:cs typeface="Times New Roman" panose="02020603050405020304" pitchFamily="18" charset="0"/>
                        </a:rPr>
                        <a:t>POINT OF</a:t>
                      </a:r>
                    </a:p>
                    <a:p>
                      <a:pPr algn="ctr"/>
                      <a:r>
                        <a:rPr lang="en-IN" dirty="0">
                          <a:latin typeface="Times New Roman" panose="02020603050405020304" pitchFamily="18" charset="0"/>
                          <a:cs typeface="Times New Roman" panose="02020603050405020304" pitchFamily="18" charset="0"/>
                        </a:rPr>
                        <a:t>DIFFERENCE</a:t>
                      </a:r>
                    </a:p>
                  </a:txBody>
                  <a:tcPr/>
                </a:tc>
                <a:tc>
                  <a:txBody>
                    <a:bodyPr/>
                    <a:lstStyle/>
                    <a:p>
                      <a:pPr algn="ctr"/>
                      <a:r>
                        <a:rPr lang="en-IN" dirty="0">
                          <a:latin typeface="Times New Roman" panose="02020603050405020304" pitchFamily="18" charset="0"/>
                          <a:cs typeface="Times New Roman" panose="02020603050405020304" pitchFamily="18" charset="0"/>
                        </a:rPr>
                        <a:t>INTERNET</a:t>
                      </a:r>
                    </a:p>
                  </a:txBody>
                  <a:tcPr/>
                </a:tc>
                <a:tc>
                  <a:txBody>
                    <a:bodyPr/>
                    <a:lstStyle/>
                    <a:p>
                      <a:pPr algn="ctr"/>
                      <a:r>
                        <a:rPr lang="en-IN" dirty="0">
                          <a:latin typeface="Times New Roman" panose="02020603050405020304" pitchFamily="18" charset="0"/>
                          <a:cs typeface="Times New Roman" panose="02020603050405020304" pitchFamily="18" charset="0"/>
                        </a:rPr>
                        <a:t>INTRANET</a:t>
                      </a:r>
                    </a:p>
                  </a:txBody>
                  <a:tcPr/>
                </a:tc>
                <a:tc>
                  <a:txBody>
                    <a:bodyPr/>
                    <a:lstStyle/>
                    <a:p>
                      <a:pPr algn="ctr"/>
                      <a:r>
                        <a:rPr lang="en-IN" dirty="0">
                          <a:latin typeface="Times New Roman" panose="02020603050405020304" pitchFamily="18" charset="0"/>
                          <a:cs typeface="Times New Roman" panose="02020603050405020304" pitchFamily="18" charset="0"/>
                        </a:rPr>
                        <a:t>EXTRANET</a:t>
                      </a:r>
                    </a:p>
                  </a:txBody>
                  <a:tcPr/>
                </a:tc>
                <a:extLst>
                  <a:ext uri="{0D108BD9-81ED-4DB2-BD59-A6C34878D82A}">
                    <a16:rowId xmlns:a16="http://schemas.microsoft.com/office/drawing/2014/main" val="2668242915"/>
                  </a:ext>
                </a:extLst>
              </a:tr>
              <a:tr h="733425">
                <a:tc>
                  <a:txBody>
                    <a:bodyPr/>
                    <a:lstStyle/>
                    <a:p>
                      <a:pPr algn="ctr"/>
                      <a:r>
                        <a:rPr lang="en-IN" dirty="0">
                          <a:latin typeface="Times New Roman" panose="02020603050405020304" pitchFamily="18" charset="0"/>
                          <a:cs typeface="Times New Roman" panose="02020603050405020304" pitchFamily="18" charset="0"/>
                        </a:rPr>
                        <a:t>Accessibility</a:t>
                      </a:r>
                    </a:p>
                  </a:txBody>
                  <a:tcPr/>
                </a:tc>
                <a:tc>
                  <a:txBody>
                    <a:bodyPr/>
                    <a:lstStyle/>
                    <a:p>
                      <a:pPr algn="ctr"/>
                      <a:r>
                        <a:rPr lang="en-IN" dirty="0">
                          <a:latin typeface="Times New Roman" panose="02020603050405020304" pitchFamily="18" charset="0"/>
                          <a:cs typeface="Times New Roman" panose="02020603050405020304" pitchFamily="18" charset="0"/>
                        </a:rPr>
                        <a:t>Public – open to all</a:t>
                      </a:r>
                    </a:p>
                  </a:txBody>
                  <a:tcPr/>
                </a:tc>
                <a:tc>
                  <a:txBody>
                    <a:bodyPr/>
                    <a:lstStyle/>
                    <a:p>
                      <a:pPr algn="ctr"/>
                      <a:r>
                        <a:rPr lang="en-IN" dirty="0">
                          <a:latin typeface="Times New Roman" panose="02020603050405020304" pitchFamily="18" charset="0"/>
                          <a:cs typeface="Times New Roman" panose="02020603050405020304" pitchFamily="18" charset="0"/>
                        </a:rPr>
                        <a:t>Private – only employees</a:t>
                      </a:r>
                    </a:p>
                  </a:txBody>
                  <a:tcPr/>
                </a:tc>
                <a:tc>
                  <a:txBody>
                    <a:bodyPr/>
                    <a:lstStyle/>
                    <a:p>
                      <a:pPr algn="ctr"/>
                      <a:r>
                        <a:rPr lang="en-IN" dirty="0">
                          <a:latin typeface="Times New Roman" panose="02020603050405020304" pitchFamily="18" charset="0"/>
                          <a:cs typeface="Times New Roman" panose="02020603050405020304" pitchFamily="18" charset="0"/>
                        </a:rPr>
                        <a:t>Private – employees + authorized</a:t>
                      </a:r>
                    </a:p>
                  </a:txBody>
                  <a:tcPr/>
                </a:tc>
                <a:extLst>
                  <a:ext uri="{0D108BD9-81ED-4DB2-BD59-A6C34878D82A}">
                    <a16:rowId xmlns:a16="http://schemas.microsoft.com/office/drawing/2014/main" val="1471301023"/>
                  </a:ext>
                </a:extLst>
              </a:tr>
              <a:tr h="733425">
                <a:tc>
                  <a:txBody>
                    <a:bodyPr/>
                    <a:lstStyle/>
                    <a:p>
                      <a:pPr algn="ctr"/>
                      <a:r>
                        <a:rPr lang="en-IN" dirty="0">
                          <a:latin typeface="Times New Roman" panose="02020603050405020304" pitchFamily="18" charset="0"/>
                          <a:cs typeface="Times New Roman" panose="02020603050405020304" pitchFamily="18" charset="0"/>
                        </a:rPr>
                        <a:t>Coverage</a:t>
                      </a:r>
                    </a:p>
                  </a:txBody>
                  <a:tcPr/>
                </a:tc>
                <a:tc>
                  <a:txBody>
                    <a:bodyPr/>
                    <a:lstStyle/>
                    <a:p>
                      <a:pPr algn="ctr"/>
                      <a:r>
                        <a:rPr lang="en-IN" dirty="0">
                          <a:latin typeface="Times New Roman" panose="02020603050405020304" pitchFamily="18" charset="0"/>
                          <a:cs typeface="Times New Roman" panose="02020603050405020304" pitchFamily="18" charset="0"/>
                        </a:rPr>
                        <a:t>Worldwide</a:t>
                      </a:r>
                    </a:p>
                  </a:txBody>
                  <a:tcPr/>
                </a:tc>
                <a:tc>
                  <a:txBody>
                    <a:bodyPr/>
                    <a:lstStyle/>
                    <a:p>
                      <a:pPr algn="ctr"/>
                      <a:r>
                        <a:rPr lang="en-IN" dirty="0">
                          <a:latin typeface="Times New Roman" panose="02020603050405020304" pitchFamily="18" charset="0"/>
                          <a:cs typeface="Times New Roman" panose="02020603050405020304" pitchFamily="18" charset="0"/>
                        </a:rPr>
                        <a:t>Within an organization</a:t>
                      </a:r>
                    </a:p>
                  </a:txBody>
                  <a:tcPr/>
                </a:tc>
                <a:tc>
                  <a:txBody>
                    <a:bodyPr/>
                    <a:lstStyle/>
                    <a:p>
                      <a:pPr algn="ctr"/>
                      <a:r>
                        <a:rPr lang="en-IN" dirty="0">
                          <a:latin typeface="Times New Roman" panose="02020603050405020304" pitchFamily="18" charset="0"/>
                          <a:cs typeface="Times New Roman" panose="02020603050405020304" pitchFamily="18" charset="0"/>
                        </a:rPr>
                        <a:t>Organization + selected</a:t>
                      </a:r>
                    </a:p>
                  </a:txBody>
                  <a:tcPr/>
                </a:tc>
                <a:extLst>
                  <a:ext uri="{0D108BD9-81ED-4DB2-BD59-A6C34878D82A}">
                    <a16:rowId xmlns:a16="http://schemas.microsoft.com/office/drawing/2014/main" val="3774155495"/>
                  </a:ext>
                </a:extLst>
              </a:tr>
              <a:tr h="1047750">
                <a:tc>
                  <a:txBody>
                    <a:bodyPr/>
                    <a:lstStyle/>
                    <a:p>
                      <a:pPr algn="ctr"/>
                      <a:r>
                        <a:rPr lang="en-IN" dirty="0">
                          <a:latin typeface="Times New Roman" panose="02020603050405020304" pitchFamily="18" charset="0"/>
                          <a:cs typeface="Times New Roman" panose="02020603050405020304" pitchFamily="18" charset="0"/>
                        </a:rPr>
                        <a:t>Purpose</a:t>
                      </a:r>
                    </a:p>
                  </a:txBody>
                  <a:tcPr/>
                </a:tc>
                <a:tc>
                  <a:txBody>
                    <a:bodyPr/>
                    <a:lstStyle/>
                    <a:p>
                      <a:pPr algn="ctr"/>
                      <a:r>
                        <a:rPr lang="en-IN" dirty="0">
                          <a:latin typeface="Times New Roman" panose="02020603050405020304" pitchFamily="18" charset="0"/>
                          <a:cs typeface="Times New Roman" panose="02020603050405020304" pitchFamily="18" charset="0"/>
                        </a:rPr>
                        <a:t>Global information sharing</a:t>
                      </a:r>
                    </a:p>
                  </a:txBody>
                  <a:tcPr/>
                </a:tc>
                <a:tc>
                  <a:txBody>
                    <a:bodyPr/>
                    <a:lstStyle/>
                    <a:p>
                      <a:pPr algn="ctr"/>
                      <a:r>
                        <a:rPr lang="en-IN" dirty="0">
                          <a:latin typeface="Times New Roman" panose="02020603050405020304" pitchFamily="18" charset="0"/>
                          <a:cs typeface="Times New Roman" panose="02020603050405020304" pitchFamily="18" charset="0"/>
                        </a:rPr>
                        <a:t>Internal communication &amp;</a:t>
                      </a:r>
                    </a:p>
                  </a:txBody>
                  <a:tcPr/>
                </a:tc>
                <a:tc>
                  <a:txBody>
                    <a:bodyPr/>
                    <a:lstStyle/>
                    <a:p>
                      <a:pPr algn="ctr"/>
                      <a:r>
                        <a:rPr lang="en-US" dirty="0">
                          <a:latin typeface="Times New Roman" panose="02020603050405020304" pitchFamily="18" charset="0"/>
                          <a:cs typeface="Times New Roman" panose="02020603050405020304" pitchFamily="18" charset="0"/>
                        </a:rPr>
                        <a:t>Secure collaboration with external</a:t>
                      </a:r>
                    </a:p>
                    <a:p>
                      <a:pPr algn="ctr"/>
                      <a:r>
                        <a:rPr lang="en-US" dirty="0">
                          <a:latin typeface="Times New Roman" panose="02020603050405020304" pitchFamily="18" charset="0"/>
                          <a:cs typeface="Times New Roman" panose="02020603050405020304" pitchFamily="18" charset="0"/>
                        </a:rPr>
                        <a:t>stakeholders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1167938"/>
                  </a:ext>
                </a:extLst>
              </a:tr>
              <a:tr h="942975">
                <a:tc>
                  <a:txBody>
                    <a:bodyPr/>
                    <a:lstStyle/>
                    <a:p>
                      <a:pPr algn="ctr"/>
                      <a:r>
                        <a:rPr lang="en-IN" dirty="0">
                          <a:latin typeface="Times New Roman" panose="02020603050405020304" pitchFamily="18" charset="0"/>
                          <a:cs typeface="Times New Roman" panose="02020603050405020304" pitchFamily="18" charset="0"/>
                        </a:rPr>
                        <a:t>Security</a:t>
                      </a:r>
                    </a:p>
                  </a:txBody>
                  <a:tcPr/>
                </a:tc>
                <a:tc>
                  <a:txBody>
                    <a:bodyPr/>
                    <a:lstStyle/>
                    <a:p>
                      <a:pPr algn="ctr"/>
                      <a:r>
                        <a:rPr lang="en-IN" dirty="0">
                          <a:latin typeface="Times New Roman" panose="02020603050405020304" pitchFamily="18" charset="0"/>
                          <a:cs typeface="Times New Roman" panose="02020603050405020304" pitchFamily="18" charset="0"/>
                        </a:rPr>
                        <a:t>User - dependent; less</a:t>
                      </a:r>
                    </a:p>
                  </a:txBody>
                  <a:tcPr/>
                </a:tc>
                <a:tc>
                  <a:txBody>
                    <a:bodyPr/>
                    <a:lstStyle/>
                    <a:p>
                      <a:pPr algn="ctr"/>
                      <a:r>
                        <a:rPr lang="en-IN" dirty="0">
                          <a:latin typeface="Times New Roman" panose="02020603050405020304" pitchFamily="18" charset="0"/>
                          <a:cs typeface="Times New Roman" panose="02020603050405020304" pitchFamily="18" charset="0"/>
                        </a:rPr>
                        <a:t>Protected by organizational</a:t>
                      </a:r>
                    </a:p>
                    <a:p>
                      <a:pPr algn="ctr"/>
                      <a:r>
                        <a:rPr lang="en-IN" dirty="0">
                          <a:latin typeface="Times New Roman" panose="02020603050405020304" pitchFamily="18" charset="0"/>
                          <a:cs typeface="Times New Roman" panose="02020603050405020304" pitchFamily="18" charset="0"/>
                        </a:rPr>
                        <a:t>firewalls</a:t>
                      </a:r>
                    </a:p>
                  </a:txBody>
                  <a:tcPr/>
                </a:tc>
                <a:tc>
                  <a:txBody>
                    <a:bodyPr/>
                    <a:lstStyle/>
                    <a:p>
                      <a:pPr algn="ctr"/>
                      <a:r>
                        <a:rPr lang="en-IN" dirty="0">
                          <a:latin typeface="Times New Roman" panose="02020603050405020304" pitchFamily="18" charset="0"/>
                          <a:cs typeface="Times New Roman" panose="02020603050405020304" pitchFamily="18" charset="0"/>
                        </a:rPr>
                        <a:t>Firewalls + encryption +</a:t>
                      </a:r>
                    </a:p>
                    <a:p>
                      <a:pPr algn="ctr"/>
                      <a:r>
                        <a:rPr lang="en-IN" dirty="0">
                          <a:latin typeface="Times New Roman" panose="02020603050405020304" pitchFamily="18" charset="0"/>
                          <a:cs typeface="Times New Roman" panose="02020603050405020304" pitchFamily="18" charset="0"/>
                        </a:rPr>
                        <a:t>controlled login</a:t>
                      </a:r>
                    </a:p>
                  </a:txBody>
                  <a:tcPr/>
                </a:tc>
                <a:extLst>
                  <a:ext uri="{0D108BD9-81ED-4DB2-BD59-A6C34878D82A}">
                    <a16:rowId xmlns:a16="http://schemas.microsoft.com/office/drawing/2014/main" val="513860566"/>
                  </a:ext>
                </a:extLst>
              </a:tr>
              <a:tr h="733425">
                <a:tc>
                  <a:txBody>
                    <a:bodyPr/>
                    <a:lstStyle/>
                    <a:p>
                      <a:pPr algn="ctr"/>
                      <a:r>
                        <a:rPr lang="en-IN" dirty="0">
                          <a:latin typeface="Times New Roman" panose="02020603050405020304" pitchFamily="18" charset="0"/>
                          <a:cs typeface="Times New Roman" panose="02020603050405020304" pitchFamily="18" charset="0"/>
                        </a:rPr>
                        <a:t>Example</a:t>
                      </a:r>
                    </a:p>
                  </a:txBody>
                  <a:tcPr/>
                </a:tc>
                <a:tc>
                  <a:txBody>
                    <a:bodyPr/>
                    <a:lstStyle/>
                    <a:p>
                      <a:pPr algn="ctr"/>
                      <a:r>
                        <a:rPr lang="en-IN" dirty="0">
                          <a:latin typeface="Times New Roman" panose="02020603050405020304" pitchFamily="18" charset="0"/>
                          <a:cs typeface="Times New Roman" panose="02020603050405020304" pitchFamily="18" charset="0"/>
                        </a:rPr>
                        <a:t>Public web browsing</a:t>
                      </a:r>
                    </a:p>
                  </a:txBody>
                  <a:tcPr/>
                </a:tc>
                <a:tc>
                  <a:txBody>
                    <a:bodyPr/>
                    <a:lstStyle/>
                    <a:p>
                      <a:pPr algn="ctr"/>
                      <a:r>
                        <a:rPr lang="en-IN" dirty="0">
                          <a:latin typeface="Times New Roman" panose="02020603050405020304" pitchFamily="18" charset="0"/>
                          <a:cs typeface="Times New Roman" panose="02020603050405020304" pitchFamily="18" charset="0"/>
                        </a:rPr>
                        <a:t>Wipro’s internal HR portal</a:t>
                      </a:r>
                    </a:p>
                  </a:txBody>
                  <a:tcPr/>
                </a:tc>
                <a:tc>
                  <a:txBody>
                    <a:bodyPr/>
                    <a:lstStyle/>
                    <a:p>
                      <a:pPr algn="ctr"/>
                      <a:r>
                        <a:rPr lang="en-IN" dirty="0">
                          <a:latin typeface="Times New Roman" panose="02020603050405020304" pitchFamily="18" charset="0"/>
                          <a:cs typeface="Times New Roman" panose="02020603050405020304" pitchFamily="18" charset="0"/>
                        </a:rPr>
                        <a:t>Dell–Intel supplier network</a:t>
                      </a:r>
                    </a:p>
                  </a:txBody>
                  <a:tcPr/>
                </a:tc>
                <a:extLst>
                  <a:ext uri="{0D108BD9-81ED-4DB2-BD59-A6C34878D82A}">
                    <a16:rowId xmlns:a16="http://schemas.microsoft.com/office/drawing/2014/main" val="483342950"/>
                  </a:ext>
                </a:extLst>
              </a:tr>
            </a:tbl>
          </a:graphicData>
        </a:graphic>
      </p:graphicFrame>
    </p:spTree>
    <p:extLst>
      <p:ext uri="{BB962C8B-B14F-4D97-AF65-F5344CB8AC3E}">
        <p14:creationId xmlns:p14="http://schemas.microsoft.com/office/powerpoint/2010/main" val="2131300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EAE25-F361-B4F0-87B3-1F47D6C634C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E3B3A2B-BB2C-B3B8-D74E-36DE9F8FC3DD}"/>
              </a:ext>
            </a:extLst>
          </p:cNvPr>
          <p:cNvSpPr/>
          <p:nvPr/>
        </p:nvSpPr>
        <p:spPr>
          <a:xfrm>
            <a:off x="0" y="714756"/>
            <a:ext cx="1592580" cy="508000"/>
          </a:xfrm>
          <a:custGeom>
            <a:avLst/>
            <a:gdLst/>
            <a:ahLst/>
            <a:cxnLst/>
            <a:rect l="l" t="t" r="r" b="b"/>
            <a:pathLst>
              <a:path w="1592580" h="508000">
                <a:moveTo>
                  <a:pt x="0" y="0"/>
                </a:moveTo>
                <a:lnTo>
                  <a:pt x="0" y="503948"/>
                </a:lnTo>
                <a:lnTo>
                  <a:pt x="1245844" y="507491"/>
                </a:lnTo>
                <a:lnTo>
                  <a:pt x="1346200" y="507491"/>
                </a:lnTo>
                <a:lnTo>
                  <a:pt x="1350899" y="502665"/>
                </a:lnTo>
                <a:lnTo>
                  <a:pt x="1352423" y="501141"/>
                </a:lnTo>
                <a:lnTo>
                  <a:pt x="1354328" y="499617"/>
                </a:lnTo>
                <a:lnTo>
                  <a:pt x="1355852" y="497966"/>
                </a:lnTo>
                <a:lnTo>
                  <a:pt x="1584960" y="268858"/>
                </a:lnTo>
                <a:lnTo>
                  <a:pt x="1590246" y="261714"/>
                </a:lnTo>
                <a:lnTo>
                  <a:pt x="1592008" y="254571"/>
                </a:lnTo>
                <a:lnTo>
                  <a:pt x="1590246" y="247427"/>
                </a:lnTo>
                <a:lnTo>
                  <a:pt x="1584960" y="240283"/>
                </a:lnTo>
                <a:lnTo>
                  <a:pt x="1355852" y="11302"/>
                </a:lnTo>
                <a:lnTo>
                  <a:pt x="1350899" y="11302"/>
                </a:lnTo>
                <a:lnTo>
                  <a:pt x="1350899" y="6476"/>
                </a:lnTo>
                <a:lnTo>
                  <a:pt x="1346200" y="6476"/>
                </a:lnTo>
                <a:lnTo>
                  <a:pt x="1341374" y="1777"/>
                </a:lnTo>
                <a:lnTo>
                  <a:pt x="1245844" y="1777"/>
                </a:lnTo>
                <a:lnTo>
                  <a:pt x="0" y="0"/>
                </a:lnTo>
                <a:close/>
              </a:path>
            </a:pathLst>
          </a:custGeom>
          <a:solidFill>
            <a:srgbClr val="353535"/>
          </a:solidFill>
        </p:spPr>
        <p:txBody>
          <a:bodyPr wrap="square" lIns="0" tIns="0" rIns="0" bIns="0" rtlCol="0"/>
          <a:lstStyle/>
          <a:p>
            <a:endParaRPr/>
          </a:p>
        </p:txBody>
      </p:sp>
      <p:sp>
        <p:nvSpPr>
          <p:cNvPr id="3" name="object 3">
            <a:extLst>
              <a:ext uri="{FF2B5EF4-FFF2-40B4-BE49-F238E27FC236}">
                <a16:creationId xmlns:a16="http://schemas.microsoft.com/office/drawing/2014/main" id="{97D2DB33-C326-1325-0C99-1E80B0889F57}"/>
              </a:ext>
            </a:extLst>
          </p:cNvPr>
          <p:cNvSpPr txBox="1">
            <a:spLocks noGrp="1"/>
          </p:cNvSpPr>
          <p:nvPr>
            <p:ph type="title"/>
          </p:nvPr>
        </p:nvSpPr>
        <p:spPr>
          <a:xfrm>
            <a:off x="1905000" y="601057"/>
            <a:ext cx="8911687" cy="534698"/>
          </a:xfrm>
          <a:prstGeom prst="rect">
            <a:avLst/>
          </a:prstGeom>
        </p:spPr>
        <p:txBody>
          <a:bodyPr vert="horz" wrap="square" lIns="0" tIns="231902" rIns="0" bIns="0" rtlCol="0">
            <a:spAutoFit/>
          </a:bodyPr>
          <a:lstStyle/>
          <a:p>
            <a:pPr marL="285750" indent="-285750">
              <a:lnSpc>
                <a:spcPts val="25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WHAT IS WORLD WIDE WEB?</a:t>
            </a:r>
          </a:p>
        </p:txBody>
      </p:sp>
      <p:sp>
        <p:nvSpPr>
          <p:cNvPr id="7" name="Rectangle 1">
            <a:extLst>
              <a:ext uri="{FF2B5EF4-FFF2-40B4-BE49-F238E27FC236}">
                <a16:creationId xmlns:a16="http://schemas.microsoft.com/office/drawing/2014/main" id="{FCF29F9C-DCCA-BD02-AE24-54F0C4BCE45B}"/>
              </a:ext>
            </a:extLst>
          </p:cNvPr>
          <p:cNvSpPr>
            <a:spLocks noChangeArrowheads="1"/>
          </p:cNvSpPr>
          <p:nvPr/>
        </p:nvSpPr>
        <p:spPr bwMode="auto">
          <a:xfrm rot="10800000" flipV="1">
            <a:off x="1600200" y="1364790"/>
            <a:ext cx="102108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The World Wide Web (WWW), often called the Web, is a system of interconnected webpages and information that you can access using the Internet. It was created to help people share and find information easily, using links that connect different pages together.</a:t>
            </a:r>
          </a:p>
          <a:p>
            <a:pPr marL="342900" lvl="0" indent="-342900" algn="just" defTabSz="914400" eaLnBrk="0" fontAlgn="base" hangingPunct="0">
              <a:spcBef>
                <a:spcPct val="0"/>
              </a:spcBef>
              <a:spcAft>
                <a:spcPct val="0"/>
              </a:spcAft>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The Web allows us to browse websites, watch videos, shop online, and connect with others around the world through our computers and phones.</a:t>
            </a:r>
          </a:p>
          <a:p>
            <a:pPr marL="342900" lvl="0" indent="-342900" algn="just" defTabSz="914400" eaLnBrk="0" fontAlgn="base" hangingPunct="0">
              <a:spcBef>
                <a:spcPct val="0"/>
              </a:spcBef>
              <a:spcAft>
                <a:spcPct val="0"/>
              </a:spcAft>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All public websites or web pages that people may access on their local computers and other</a:t>
            </a:r>
          </a:p>
          <a:p>
            <a:pPr marL="342900" lvl="0" indent="-342900" algn="just" defTabSz="914400" eaLnBrk="0" fontAlgn="base" hangingPunct="0">
              <a:spcBef>
                <a:spcPct val="0"/>
              </a:spcBef>
              <a:spcAft>
                <a:spcPct val="0"/>
              </a:spcAft>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devices through the internet are collectively known as the World Wide Web or W3.</a:t>
            </a:r>
          </a:p>
          <a:p>
            <a:pPr marL="342900" lvl="0" indent="-342900" algn="just" defTabSz="914400" eaLnBrk="0" fontAlgn="base" hangingPunct="0">
              <a:spcBef>
                <a:spcPct val="0"/>
              </a:spcBef>
              <a:spcAft>
                <a:spcPct val="0"/>
              </a:spcAft>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This data may be presented in text, picture, audio, or video formats on the internet.</a:t>
            </a:r>
          </a:p>
          <a:p>
            <a:pPr marL="342900" lvl="0" indent="-342900" algn="just" defTabSz="914400" eaLnBrk="0" fontAlgn="base" hangingPunct="0">
              <a:spcBef>
                <a:spcPct val="0"/>
              </a:spcBef>
              <a:spcAft>
                <a:spcPct val="0"/>
              </a:spcAft>
              <a:buFont typeface="Wingdings" panose="05000000000000000000" pitchFamily="2" charset="2"/>
              <a:buChar char="§"/>
            </a:pP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Key Parts of the Web</a:t>
            </a:r>
          </a:p>
          <a:p>
            <a:pPr lvl="0" algn="just" defTabSz="91440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The Web has three main building blocks that make it work:</a:t>
            </a:r>
          </a:p>
          <a:p>
            <a:pPr lvl="0" algn="just" defTabSz="91440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URL (Uniform Resource Locator): </a:t>
            </a:r>
            <a:r>
              <a:rPr lang="en-US" altLang="en-US" dirty="0">
                <a:latin typeface="Times New Roman" panose="02020603050405020304" pitchFamily="18" charset="0"/>
                <a:cs typeface="Times New Roman" panose="02020603050405020304" pitchFamily="18" charset="0"/>
              </a:rPr>
              <a:t>This is the address of a webpage, like https://www.example.com./ It tells your browser exactly where to find the page.</a:t>
            </a:r>
          </a:p>
          <a:p>
            <a:pPr lvl="0" algn="just" defTabSz="91440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HTTP (Hypertext Transfer Protocol): </a:t>
            </a:r>
            <a:r>
              <a:rPr lang="en-US" altLang="en-US" dirty="0">
                <a:latin typeface="Times New Roman" panose="02020603050405020304" pitchFamily="18" charset="0"/>
                <a:cs typeface="Times New Roman" panose="02020603050405020304" pitchFamily="18" charset="0"/>
              </a:rPr>
              <a:t>This is the set of rules that lets your browser and the server talk to each other to send and receive webpages.</a:t>
            </a:r>
          </a:p>
          <a:p>
            <a:pPr lvl="0" algn="just" defTabSz="91440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HTML (Hypertext Markup Language): </a:t>
            </a:r>
            <a:r>
              <a:rPr lang="en-US" altLang="en-US" dirty="0">
                <a:latin typeface="Times New Roman" panose="02020603050405020304" pitchFamily="18" charset="0"/>
                <a:cs typeface="Times New Roman" panose="02020603050405020304" pitchFamily="18" charset="0"/>
              </a:rPr>
              <a:t>This is the code that tells browsers how to display a webpage, including where to put text, pictures, and links.</a:t>
            </a:r>
            <a:endPar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1265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1F372-416D-5343-18FB-46F63DE30DC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9A8679D-8E1F-BEB0-D2D5-E59ED3C9CCFA}"/>
              </a:ext>
            </a:extLst>
          </p:cNvPr>
          <p:cNvSpPr/>
          <p:nvPr/>
        </p:nvSpPr>
        <p:spPr>
          <a:xfrm>
            <a:off x="0" y="714756"/>
            <a:ext cx="1592580" cy="508000"/>
          </a:xfrm>
          <a:custGeom>
            <a:avLst/>
            <a:gdLst/>
            <a:ahLst/>
            <a:cxnLst/>
            <a:rect l="l" t="t" r="r" b="b"/>
            <a:pathLst>
              <a:path w="1592580" h="508000">
                <a:moveTo>
                  <a:pt x="0" y="0"/>
                </a:moveTo>
                <a:lnTo>
                  <a:pt x="0" y="503948"/>
                </a:lnTo>
                <a:lnTo>
                  <a:pt x="1245844" y="507491"/>
                </a:lnTo>
                <a:lnTo>
                  <a:pt x="1346200" y="507491"/>
                </a:lnTo>
                <a:lnTo>
                  <a:pt x="1350899" y="502665"/>
                </a:lnTo>
                <a:lnTo>
                  <a:pt x="1352423" y="501141"/>
                </a:lnTo>
                <a:lnTo>
                  <a:pt x="1354328" y="499617"/>
                </a:lnTo>
                <a:lnTo>
                  <a:pt x="1355852" y="497966"/>
                </a:lnTo>
                <a:lnTo>
                  <a:pt x="1584960" y="268858"/>
                </a:lnTo>
                <a:lnTo>
                  <a:pt x="1590246" y="261714"/>
                </a:lnTo>
                <a:lnTo>
                  <a:pt x="1592008" y="254571"/>
                </a:lnTo>
                <a:lnTo>
                  <a:pt x="1590246" y="247427"/>
                </a:lnTo>
                <a:lnTo>
                  <a:pt x="1584960" y="240283"/>
                </a:lnTo>
                <a:lnTo>
                  <a:pt x="1355852" y="11302"/>
                </a:lnTo>
                <a:lnTo>
                  <a:pt x="1350899" y="11302"/>
                </a:lnTo>
                <a:lnTo>
                  <a:pt x="1350899" y="6476"/>
                </a:lnTo>
                <a:lnTo>
                  <a:pt x="1346200" y="6476"/>
                </a:lnTo>
                <a:lnTo>
                  <a:pt x="1341374" y="1777"/>
                </a:lnTo>
                <a:lnTo>
                  <a:pt x="1245844" y="1777"/>
                </a:lnTo>
                <a:lnTo>
                  <a:pt x="0" y="0"/>
                </a:lnTo>
                <a:close/>
              </a:path>
            </a:pathLst>
          </a:custGeom>
          <a:solidFill>
            <a:srgbClr val="353535"/>
          </a:solidFill>
        </p:spPr>
        <p:txBody>
          <a:bodyPr wrap="square" lIns="0" tIns="0" rIns="0" bIns="0" rtlCol="0"/>
          <a:lstStyle/>
          <a:p>
            <a:endParaRPr/>
          </a:p>
        </p:txBody>
      </p:sp>
      <p:sp>
        <p:nvSpPr>
          <p:cNvPr id="3" name="object 3">
            <a:extLst>
              <a:ext uri="{FF2B5EF4-FFF2-40B4-BE49-F238E27FC236}">
                <a16:creationId xmlns:a16="http://schemas.microsoft.com/office/drawing/2014/main" id="{373C00DF-F515-78EB-99E6-07FE35150C80}"/>
              </a:ext>
            </a:extLst>
          </p:cNvPr>
          <p:cNvSpPr txBox="1">
            <a:spLocks noGrp="1"/>
          </p:cNvSpPr>
          <p:nvPr>
            <p:ph type="title"/>
          </p:nvPr>
        </p:nvSpPr>
        <p:spPr>
          <a:xfrm>
            <a:off x="1905000" y="608302"/>
            <a:ext cx="8911687" cy="534698"/>
          </a:xfrm>
          <a:prstGeom prst="rect">
            <a:avLst/>
          </a:prstGeom>
        </p:spPr>
        <p:txBody>
          <a:bodyPr vert="horz" wrap="square" lIns="0" tIns="231902" rIns="0" bIns="0" rtlCol="0">
            <a:spAutoFit/>
          </a:bodyPr>
          <a:lstStyle/>
          <a:p>
            <a:pPr marL="285750" indent="-285750">
              <a:lnSpc>
                <a:spcPts val="25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WHAT IS HTTP? </a:t>
            </a:r>
          </a:p>
        </p:txBody>
      </p:sp>
      <p:sp>
        <p:nvSpPr>
          <p:cNvPr id="4" name="Rectangle 1">
            <a:extLst>
              <a:ext uri="{FF2B5EF4-FFF2-40B4-BE49-F238E27FC236}">
                <a16:creationId xmlns:a16="http://schemas.microsoft.com/office/drawing/2014/main" id="{A263694A-42DD-54FD-A455-EFADDC9A98F0}"/>
              </a:ext>
            </a:extLst>
          </p:cNvPr>
          <p:cNvSpPr>
            <a:spLocks noChangeArrowheads="1"/>
          </p:cNvSpPr>
          <p:nvPr/>
        </p:nvSpPr>
        <p:spPr bwMode="auto">
          <a:xfrm>
            <a:off x="1924050" y="1305341"/>
            <a:ext cx="91440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HTTP (Hypertext Transfer Protocol) is a fundamental protocol of the Internet, enabling the transfer of data between a client and a server. It is the foundation of data communication for the World Wide Web. HTTP provides a standard between a web browser and a web server to establish communication. It is a set of rules for transferring data from one computer to another.</a:t>
            </a:r>
          </a:p>
          <a:p>
            <a:pPr lvl="0" algn="just" defTabSz="91440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ADVANTAGES</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Platform independence: </a:t>
            </a:r>
            <a:r>
              <a:rPr lang="en-US" altLang="en-US" dirty="0">
                <a:latin typeface="Times New Roman" panose="02020603050405020304" pitchFamily="18" charset="0"/>
                <a:cs typeface="Times New Roman" panose="02020603050405020304" pitchFamily="18" charset="0"/>
              </a:rPr>
              <a:t>Works on any operating system</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Compatibility:</a:t>
            </a:r>
            <a:r>
              <a:rPr lang="en-US" altLang="en-US" dirty="0">
                <a:latin typeface="Times New Roman" panose="02020603050405020304" pitchFamily="18" charset="0"/>
                <a:cs typeface="Times New Roman" panose="02020603050405020304" pitchFamily="18" charset="0"/>
              </a:rPr>
              <a:t> Compatible with various protocols and technologies</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Efficiency: </a:t>
            </a:r>
            <a:r>
              <a:rPr lang="en-US" altLang="en-US" dirty="0">
                <a:latin typeface="Times New Roman" panose="02020603050405020304" pitchFamily="18" charset="0"/>
                <a:cs typeface="Times New Roman" panose="02020603050405020304" pitchFamily="18" charset="0"/>
              </a:rPr>
              <a:t>Optimized for performance</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Security: </a:t>
            </a:r>
            <a:r>
              <a:rPr lang="en-US" altLang="en-US" dirty="0">
                <a:latin typeface="Times New Roman" panose="02020603050405020304" pitchFamily="18" charset="0"/>
                <a:cs typeface="Times New Roman" panose="02020603050405020304" pitchFamily="18" charset="0"/>
              </a:rPr>
              <a:t>Supports encryption for secure data transfer</a:t>
            </a:r>
          </a:p>
          <a:p>
            <a:pPr marL="285750" lvl="0" indent="-285750" algn="just" defTabSz="914400" eaLnBrk="0" fontAlgn="base" hangingPunct="0">
              <a:spcBef>
                <a:spcPct val="0"/>
              </a:spcBef>
              <a:spcAft>
                <a:spcPct val="0"/>
              </a:spcAf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DISADVANTAGES</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Lack of security:</a:t>
            </a:r>
            <a:r>
              <a:rPr lang="en-US" altLang="en-US" dirty="0">
                <a:latin typeface="Times New Roman" panose="02020603050405020304" pitchFamily="18" charset="0"/>
                <a:cs typeface="Times New Roman" panose="02020603050405020304" pitchFamily="18" charset="0"/>
              </a:rPr>
              <a:t> Vulnerable to attacks like man in the middle</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Performance issues: </a:t>
            </a:r>
            <a:r>
              <a:rPr lang="en-US" altLang="en-US" dirty="0">
                <a:latin typeface="Times New Roman" panose="02020603050405020304" pitchFamily="18" charset="0"/>
                <a:cs typeface="Times New Roman" panose="02020603050405020304" pitchFamily="18" charset="0"/>
              </a:rPr>
              <a:t>Can be slow for large data transfers</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Statelessness: </a:t>
            </a:r>
            <a:r>
              <a:rPr lang="en-US" altLang="en-US" dirty="0">
                <a:latin typeface="Times New Roman" panose="02020603050405020304" pitchFamily="18" charset="0"/>
                <a:cs typeface="Times New Roman" panose="02020603050405020304" pitchFamily="18" charset="0"/>
              </a:rPr>
              <a:t>Requires additional mechanisms for maintaining state</a:t>
            </a: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9056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02752-45BF-53E5-DDDC-8C1115E05AC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851C66E-92AC-B531-97EB-3C8ECE7EC3AA}"/>
              </a:ext>
            </a:extLst>
          </p:cNvPr>
          <p:cNvSpPr/>
          <p:nvPr/>
        </p:nvSpPr>
        <p:spPr>
          <a:xfrm>
            <a:off x="0" y="714756"/>
            <a:ext cx="1592580" cy="508000"/>
          </a:xfrm>
          <a:custGeom>
            <a:avLst/>
            <a:gdLst/>
            <a:ahLst/>
            <a:cxnLst/>
            <a:rect l="l" t="t" r="r" b="b"/>
            <a:pathLst>
              <a:path w="1592580" h="508000">
                <a:moveTo>
                  <a:pt x="0" y="0"/>
                </a:moveTo>
                <a:lnTo>
                  <a:pt x="0" y="503948"/>
                </a:lnTo>
                <a:lnTo>
                  <a:pt x="1245844" y="507491"/>
                </a:lnTo>
                <a:lnTo>
                  <a:pt x="1346200" y="507491"/>
                </a:lnTo>
                <a:lnTo>
                  <a:pt x="1350899" y="502665"/>
                </a:lnTo>
                <a:lnTo>
                  <a:pt x="1352423" y="501141"/>
                </a:lnTo>
                <a:lnTo>
                  <a:pt x="1354328" y="499617"/>
                </a:lnTo>
                <a:lnTo>
                  <a:pt x="1355852" y="497966"/>
                </a:lnTo>
                <a:lnTo>
                  <a:pt x="1584960" y="268858"/>
                </a:lnTo>
                <a:lnTo>
                  <a:pt x="1590246" y="261714"/>
                </a:lnTo>
                <a:lnTo>
                  <a:pt x="1592008" y="254571"/>
                </a:lnTo>
                <a:lnTo>
                  <a:pt x="1590246" y="247427"/>
                </a:lnTo>
                <a:lnTo>
                  <a:pt x="1584960" y="240283"/>
                </a:lnTo>
                <a:lnTo>
                  <a:pt x="1355852" y="11302"/>
                </a:lnTo>
                <a:lnTo>
                  <a:pt x="1350899" y="11302"/>
                </a:lnTo>
                <a:lnTo>
                  <a:pt x="1350899" y="6476"/>
                </a:lnTo>
                <a:lnTo>
                  <a:pt x="1346200" y="6476"/>
                </a:lnTo>
                <a:lnTo>
                  <a:pt x="1341374" y="1777"/>
                </a:lnTo>
                <a:lnTo>
                  <a:pt x="1245844" y="1777"/>
                </a:lnTo>
                <a:lnTo>
                  <a:pt x="0" y="0"/>
                </a:lnTo>
                <a:close/>
              </a:path>
            </a:pathLst>
          </a:custGeom>
          <a:solidFill>
            <a:srgbClr val="353535"/>
          </a:solidFill>
        </p:spPr>
        <p:txBody>
          <a:bodyPr wrap="square" lIns="0" tIns="0" rIns="0" bIns="0" rtlCol="0"/>
          <a:lstStyle/>
          <a:p>
            <a:endParaRPr/>
          </a:p>
        </p:txBody>
      </p:sp>
      <p:sp>
        <p:nvSpPr>
          <p:cNvPr id="3" name="object 3">
            <a:extLst>
              <a:ext uri="{FF2B5EF4-FFF2-40B4-BE49-F238E27FC236}">
                <a16:creationId xmlns:a16="http://schemas.microsoft.com/office/drawing/2014/main" id="{763A18AB-8C09-2D0A-1222-093DF2A4F629}"/>
              </a:ext>
            </a:extLst>
          </p:cNvPr>
          <p:cNvSpPr txBox="1">
            <a:spLocks noGrp="1"/>
          </p:cNvSpPr>
          <p:nvPr>
            <p:ph type="title"/>
          </p:nvPr>
        </p:nvSpPr>
        <p:spPr>
          <a:xfrm>
            <a:off x="1828800" y="381000"/>
            <a:ext cx="8911687" cy="534698"/>
          </a:xfrm>
          <a:prstGeom prst="rect">
            <a:avLst/>
          </a:prstGeom>
        </p:spPr>
        <p:txBody>
          <a:bodyPr vert="horz" wrap="square" lIns="0" tIns="231902" rIns="0" bIns="0" rtlCol="0">
            <a:spAutoFit/>
          </a:bodyPr>
          <a:lstStyle/>
          <a:p>
            <a:pPr marL="285750" indent="-285750">
              <a:lnSpc>
                <a:spcPts val="25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WHAT DOES THREE-WAY HANDSHAKE MEAN?</a:t>
            </a:r>
          </a:p>
        </p:txBody>
      </p:sp>
      <p:sp>
        <p:nvSpPr>
          <p:cNvPr id="4" name="Rectangle 1">
            <a:extLst>
              <a:ext uri="{FF2B5EF4-FFF2-40B4-BE49-F238E27FC236}">
                <a16:creationId xmlns:a16="http://schemas.microsoft.com/office/drawing/2014/main" id="{3CB5A54B-07AE-B9ED-9A1F-4A2102763107}"/>
              </a:ext>
            </a:extLst>
          </p:cNvPr>
          <p:cNvSpPr>
            <a:spLocks noChangeArrowheads="1"/>
          </p:cNvSpPr>
          <p:nvPr/>
        </p:nvSpPr>
        <p:spPr bwMode="auto">
          <a:xfrm>
            <a:off x="1828800" y="1110272"/>
            <a:ext cx="10134600" cy="5586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altLang="en-US" sz="1700" dirty="0">
                <a:latin typeface="Times New Roman" panose="02020603050405020304" pitchFamily="18" charset="0"/>
                <a:cs typeface="Times New Roman" panose="02020603050405020304" pitchFamily="18" charset="0"/>
              </a:rPr>
              <a:t>The TCP 3-Way Handshake is a process used by the Transmission Control Protocol (TCP) to establish a reliable connection between a client and a server before data transfer. It ensures that both sides are synchronized and ready to communicate.</a:t>
            </a:r>
          </a:p>
          <a:p>
            <a:pPr lvl="0" algn="just" defTabSz="914400" eaLnBrk="0" fontAlgn="base" hangingPunct="0">
              <a:spcBef>
                <a:spcPct val="0"/>
              </a:spcBef>
              <a:spcAft>
                <a:spcPct val="0"/>
              </a:spcAft>
            </a:pPr>
            <a:endParaRPr lang="en-US" altLang="en-US" sz="17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700" dirty="0">
                <a:latin typeface="Times New Roman" panose="02020603050405020304" pitchFamily="18" charset="0"/>
                <a:cs typeface="Times New Roman" panose="02020603050405020304" pitchFamily="18" charset="0"/>
              </a:rPr>
              <a:t>The header of a TCP segment can range from 20-60 bytes. 40 bytes are for options. If there are no options, a</a:t>
            </a:r>
          </a:p>
          <a:p>
            <a:pPr lvl="0" defTabSz="914400" eaLnBrk="0" fontAlgn="base" hangingPunct="0">
              <a:spcBef>
                <a:spcPct val="0"/>
              </a:spcBef>
              <a:spcAft>
                <a:spcPct val="0"/>
              </a:spcAft>
            </a:pPr>
            <a:r>
              <a:rPr lang="en-US" altLang="en-US" sz="1700" dirty="0">
                <a:latin typeface="Times New Roman" panose="02020603050405020304" pitchFamily="18" charset="0"/>
                <a:cs typeface="Times New Roman" panose="02020603050405020304" pitchFamily="18" charset="0"/>
              </a:rPr>
              <a:t>header is 20 bytes else it can be of upmost 60 bytes. Header fields:</a:t>
            </a:r>
          </a:p>
          <a:p>
            <a:pPr lvl="0" defTabSz="914400" eaLnBrk="0" fontAlgn="base" hangingPunct="0">
              <a:spcBef>
                <a:spcPct val="0"/>
              </a:spcBef>
              <a:spcAft>
                <a:spcPct val="0"/>
              </a:spcAft>
            </a:pPr>
            <a:endParaRPr lang="en-US" altLang="en-US" sz="1700"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r>
              <a:rPr lang="en-US" altLang="en-US" sz="1700" dirty="0">
                <a:latin typeface="Times New Roman" panose="02020603050405020304" pitchFamily="18" charset="0"/>
                <a:cs typeface="Times New Roman" panose="02020603050405020304" pitchFamily="18" charset="0"/>
              </a:rPr>
              <a:t>1. Source Port / Destination Port (16 bits each): Identify sending and receiving applications.</a:t>
            </a:r>
          </a:p>
          <a:p>
            <a:pPr lvl="0" defTabSz="914400" eaLnBrk="0" fontAlgn="base" hangingPunct="0">
              <a:spcBef>
                <a:spcPct val="0"/>
              </a:spcBef>
              <a:spcAft>
                <a:spcPct val="0"/>
              </a:spcAft>
            </a:pPr>
            <a:r>
              <a:rPr lang="en-US" altLang="en-US" sz="1700" dirty="0">
                <a:latin typeface="Times New Roman" panose="02020603050405020304" pitchFamily="18" charset="0"/>
                <a:cs typeface="Times New Roman" panose="02020603050405020304" pitchFamily="18" charset="0"/>
              </a:rPr>
              <a:t>2. Sequence Number (32 bits): Position of the first byte in this segment, used for ordering.</a:t>
            </a:r>
          </a:p>
          <a:p>
            <a:pPr lvl="0" defTabSz="914400" eaLnBrk="0" fontAlgn="base" hangingPunct="0">
              <a:spcBef>
                <a:spcPct val="0"/>
              </a:spcBef>
              <a:spcAft>
                <a:spcPct val="0"/>
              </a:spcAft>
            </a:pPr>
            <a:r>
              <a:rPr lang="en-US" altLang="en-US" sz="1700" dirty="0">
                <a:latin typeface="Times New Roman" panose="02020603050405020304" pitchFamily="18" charset="0"/>
                <a:cs typeface="Times New Roman" panose="02020603050405020304" pitchFamily="18" charset="0"/>
              </a:rPr>
              <a:t>3. Acknowledgement Number (32 bits): Next byte expected by the receiver (confirms data received).</a:t>
            </a:r>
          </a:p>
          <a:p>
            <a:pPr lvl="0" defTabSz="914400" eaLnBrk="0" fontAlgn="base" hangingPunct="0">
              <a:spcBef>
                <a:spcPct val="0"/>
              </a:spcBef>
              <a:spcAft>
                <a:spcPct val="0"/>
              </a:spcAft>
            </a:pPr>
            <a:r>
              <a:rPr lang="en-US" altLang="en-US" sz="1700" dirty="0">
                <a:latin typeface="Times New Roman" panose="02020603050405020304" pitchFamily="18" charset="0"/>
                <a:cs typeface="Times New Roman" panose="02020603050405020304" pitchFamily="18" charset="0"/>
              </a:rPr>
              <a:t>4. Header Length (HLEN): Size of the header (5–15 words, i.e., 20–60 bytes).</a:t>
            </a:r>
          </a:p>
          <a:p>
            <a:pPr lvl="0" defTabSz="914400" eaLnBrk="0" fontAlgn="base" hangingPunct="0">
              <a:spcBef>
                <a:spcPct val="0"/>
              </a:spcBef>
              <a:spcAft>
                <a:spcPct val="0"/>
              </a:spcAft>
            </a:pPr>
            <a:r>
              <a:rPr lang="en-US" altLang="en-US" sz="1700" b="1" dirty="0">
                <a:latin typeface="Times New Roman" panose="02020603050405020304" pitchFamily="18" charset="0"/>
                <a:cs typeface="Times New Roman" panose="02020603050405020304" pitchFamily="18" charset="0"/>
              </a:rPr>
              <a:t>5. Control Flags (1 bit each):</a:t>
            </a:r>
          </a:p>
          <a:p>
            <a:pPr marL="742950" lvl="1" indent="-285750" defTabSz="914400" eaLnBrk="0" fontAlgn="base" hangingPunct="0">
              <a:spcBef>
                <a:spcPct val="0"/>
              </a:spcBef>
              <a:spcAft>
                <a:spcPct val="0"/>
              </a:spcAft>
              <a:buFont typeface="Arial" panose="020B0604020202020204" pitchFamily="34" charset="0"/>
              <a:buChar char="•"/>
            </a:pPr>
            <a:r>
              <a:rPr lang="en-US" altLang="en-US" sz="1700" dirty="0">
                <a:latin typeface="Times New Roman" panose="02020603050405020304" pitchFamily="18" charset="0"/>
                <a:cs typeface="Times New Roman" panose="02020603050405020304" pitchFamily="18" charset="0"/>
              </a:rPr>
              <a:t>URG: Urgent data</a:t>
            </a:r>
          </a:p>
          <a:p>
            <a:pPr marL="742950" lvl="1" indent="-285750" defTabSz="914400" eaLnBrk="0" fontAlgn="base" hangingPunct="0">
              <a:spcBef>
                <a:spcPct val="0"/>
              </a:spcBef>
              <a:spcAft>
                <a:spcPct val="0"/>
              </a:spcAft>
              <a:buFont typeface="Arial" panose="020B0604020202020204" pitchFamily="34" charset="0"/>
              <a:buChar char="•"/>
            </a:pPr>
            <a:r>
              <a:rPr lang="en-US" altLang="en-US" sz="1700" dirty="0">
                <a:latin typeface="Times New Roman" panose="02020603050405020304" pitchFamily="18" charset="0"/>
                <a:cs typeface="Times New Roman" panose="02020603050405020304" pitchFamily="18" charset="0"/>
              </a:rPr>
              <a:t>ACK: Acknowledgement valid</a:t>
            </a:r>
          </a:p>
          <a:p>
            <a:pPr marL="742950" lvl="1" indent="-285750" defTabSz="914400" eaLnBrk="0" fontAlgn="base" hangingPunct="0">
              <a:spcBef>
                <a:spcPct val="0"/>
              </a:spcBef>
              <a:spcAft>
                <a:spcPct val="0"/>
              </a:spcAft>
              <a:buFont typeface="Arial" panose="020B0604020202020204" pitchFamily="34" charset="0"/>
              <a:buChar char="•"/>
            </a:pPr>
            <a:r>
              <a:rPr lang="en-US" altLang="en-US" sz="1700" dirty="0">
                <a:latin typeface="Times New Roman" panose="02020603050405020304" pitchFamily="18" charset="0"/>
                <a:cs typeface="Times New Roman" panose="02020603050405020304" pitchFamily="18" charset="0"/>
              </a:rPr>
              <a:t>PSH: Push data immediately</a:t>
            </a:r>
          </a:p>
          <a:p>
            <a:pPr marL="742950" lvl="1" indent="-285750" defTabSz="914400" eaLnBrk="0" fontAlgn="base" hangingPunct="0">
              <a:spcBef>
                <a:spcPct val="0"/>
              </a:spcBef>
              <a:spcAft>
                <a:spcPct val="0"/>
              </a:spcAft>
              <a:buFont typeface="Arial" panose="020B0604020202020204" pitchFamily="34" charset="0"/>
              <a:buChar char="•"/>
            </a:pPr>
            <a:r>
              <a:rPr lang="en-US" altLang="en-US" sz="1700" dirty="0">
                <a:latin typeface="Times New Roman" panose="02020603050405020304" pitchFamily="18" charset="0"/>
                <a:cs typeface="Times New Roman" panose="02020603050405020304" pitchFamily="18" charset="0"/>
              </a:rPr>
              <a:t>RST: Reset connection</a:t>
            </a:r>
          </a:p>
          <a:p>
            <a:pPr marL="742950" lvl="1" indent="-285750" defTabSz="914400" eaLnBrk="0" fontAlgn="base" hangingPunct="0">
              <a:spcBef>
                <a:spcPct val="0"/>
              </a:spcBef>
              <a:spcAft>
                <a:spcPct val="0"/>
              </a:spcAft>
              <a:buFont typeface="Arial" panose="020B0604020202020204" pitchFamily="34" charset="0"/>
              <a:buChar char="•"/>
            </a:pPr>
            <a:r>
              <a:rPr lang="en-US" altLang="en-US" sz="1700" dirty="0">
                <a:latin typeface="Times New Roman" panose="02020603050405020304" pitchFamily="18" charset="0"/>
                <a:cs typeface="Times New Roman" panose="02020603050405020304" pitchFamily="18" charset="0"/>
              </a:rPr>
              <a:t>SYN: Synchronize sequence numbers</a:t>
            </a:r>
          </a:p>
          <a:p>
            <a:pPr marL="742950" lvl="1" indent="-285750" defTabSz="914400" eaLnBrk="0" fontAlgn="base" hangingPunct="0">
              <a:spcBef>
                <a:spcPct val="0"/>
              </a:spcBef>
              <a:spcAft>
                <a:spcPct val="0"/>
              </a:spcAft>
              <a:buFont typeface="Arial" panose="020B0604020202020204" pitchFamily="34" charset="0"/>
              <a:buChar char="•"/>
            </a:pPr>
            <a:r>
              <a:rPr lang="en-US" altLang="en-US" sz="1700" dirty="0">
                <a:latin typeface="Times New Roman" panose="02020603050405020304" pitchFamily="18" charset="0"/>
                <a:cs typeface="Times New Roman" panose="02020603050405020304" pitchFamily="18" charset="0"/>
              </a:rPr>
              <a:t>FIN: Terminate connection</a:t>
            </a:r>
          </a:p>
          <a:p>
            <a:pPr lvl="0" defTabSz="914400" eaLnBrk="0" fontAlgn="base" hangingPunct="0">
              <a:spcBef>
                <a:spcPct val="0"/>
              </a:spcBef>
              <a:spcAft>
                <a:spcPct val="0"/>
              </a:spcAft>
            </a:pPr>
            <a:r>
              <a:rPr lang="en-US" altLang="en-US" sz="1700" dirty="0">
                <a:latin typeface="Times New Roman" panose="02020603050405020304" pitchFamily="18" charset="0"/>
                <a:cs typeface="Times New Roman" panose="02020603050405020304" pitchFamily="18" charset="0"/>
              </a:rPr>
              <a:t>6. Window Size: Receiver’s buffer size (for flow control).</a:t>
            </a:r>
          </a:p>
          <a:p>
            <a:pPr lvl="0" defTabSz="914400" eaLnBrk="0" fontAlgn="base" hangingPunct="0">
              <a:spcBef>
                <a:spcPct val="0"/>
              </a:spcBef>
              <a:spcAft>
                <a:spcPct val="0"/>
              </a:spcAft>
            </a:pPr>
            <a:r>
              <a:rPr lang="en-US" altLang="en-US" sz="1700" dirty="0">
                <a:latin typeface="Times New Roman" panose="02020603050405020304" pitchFamily="18" charset="0"/>
                <a:cs typeface="Times New Roman" panose="02020603050405020304" pitchFamily="18" charset="0"/>
              </a:rPr>
              <a:t>7. Checksum: Error detection (mandatory).</a:t>
            </a:r>
          </a:p>
          <a:p>
            <a:pPr lvl="0" defTabSz="914400" eaLnBrk="0" fontAlgn="base" hangingPunct="0">
              <a:spcBef>
                <a:spcPct val="0"/>
              </a:spcBef>
              <a:spcAft>
                <a:spcPct val="0"/>
              </a:spcAft>
            </a:pPr>
            <a:r>
              <a:rPr lang="en-US" altLang="en-US" sz="1700" dirty="0">
                <a:latin typeface="Times New Roman" panose="02020603050405020304" pitchFamily="18" charset="0"/>
                <a:cs typeface="Times New Roman" panose="02020603050405020304" pitchFamily="18" charset="0"/>
              </a:rPr>
              <a:t>8. Urgent Pointer: Position of urgent data (if URG flag is set).</a:t>
            </a:r>
            <a:endPar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495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2051D-164E-EC71-42F3-10F129086D4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50C4761-FD9C-567F-78A5-50736A5E1BC6}"/>
              </a:ext>
            </a:extLst>
          </p:cNvPr>
          <p:cNvSpPr/>
          <p:nvPr/>
        </p:nvSpPr>
        <p:spPr>
          <a:xfrm>
            <a:off x="0" y="714756"/>
            <a:ext cx="1592580" cy="508000"/>
          </a:xfrm>
          <a:custGeom>
            <a:avLst/>
            <a:gdLst/>
            <a:ahLst/>
            <a:cxnLst/>
            <a:rect l="l" t="t" r="r" b="b"/>
            <a:pathLst>
              <a:path w="1592580" h="508000">
                <a:moveTo>
                  <a:pt x="0" y="0"/>
                </a:moveTo>
                <a:lnTo>
                  <a:pt x="0" y="503948"/>
                </a:lnTo>
                <a:lnTo>
                  <a:pt x="1245844" y="507491"/>
                </a:lnTo>
                <a:lnTo>
                  <a:pt x="1346200" y="507491"/>
                </a:lnTo>
                <a:lnTo>
                  <a:pt x="1350899" y="502665"/>
                </a:lnTo>
                <a:lnTo>
                  <a:pt x="1352423" y="501141"/>
                </a:lnTo>
                <a:lnTo>
                  <a:pt x="1354328" y="499617"/>
                </a:lnTo>
                <a:lnTo>
                  <a:pt x="1355852" y="497966"/>
                </a:lnTo>
                <a:lnTo>
                  <a:pt x="1584960" y="268858"/>
                </a:lnTo>
                <a:lnTo>
                  <a:pt x="1590246" y="261714"/>
                </a:lnTo>
                <a:lnTo>
                  <a:pt x="1592008" y="254571"/>
                </a:lnTo>
                <a:lnTo>
                  <a:pt x="1590246" y="247427"/>
                </a:lnTo>
                <a:lnTo>
                  <a:pt x="1584960" y="240283"/>
                </a:lnTo>
                <a:lnTo>
                  <a:pt x="1355852" y="11302"/>
                </a:lnTo>
                <a:lnTo>
                  <a:pt x="1350899" y="11302"/>
                </a:lnTo>
                <a:lnTo>
                  <a:pt x="1350899" y="6476"/>
                </a:lnTo>
                <a:lnTo>
                  <a:pt x="1346200" y="6476"/>
                </a:lnTo>
                <a:lnTo>
                  <a:pt x="1341374" y="1777"/>
                </a:lnTo>
                <a:lnTo>
                  <a:pt x="1245844" y="1777"/>
                </a:lnTo>
                <a:lnTo>
                  <a:pt x="0" y="0"/>
                </a:lnTo>
                <a:close/>
              </a:path>
            </a:pathLst>
          </a:custGeom>
          <a:solidFill>
            <a:srgbClr val="353535"/>
          </a:solidFill>
        </p:spPr>
        <p:txBody>
          <a:bodyPr wrap="square" lIns="0" tIns="0" rIns="0" bIns="0" rtlCol="0"/>
          <a:lstStyle/>
          <a:p>
            <a:endParaRPr/>
          </a:p>
        </p:txBody>
      </p:sp>
      <p:sp>
        <p:nvSpPr>
          <p:cNvPr id="3" name="object 3">
            <a:extLst>
              <a:ext uri="{FF2B5EF4-FFF2-40B4-BE49-F238E27FC236}">
                <a16:creationId xmlns:a16="http://schemas.microsoft.com/office/drawing/2014/main" id="{2348F31C-E84E-A75C-F0B4-888B5EF0F702}"/>
              </a:ext>
            </a:extLst>
          </p:cNvPr>
          <p:cNvSpPr txBox="1">
            <a:spLocks noGrp="1"/>
          </p:cNvSpPr>
          <p:nvPr>
            <p:ph type="title"/>
          </p:nvPr>
        </p:nvSpPr>
        <p:spPr>
          <a:xfrm>
            <a:off x="1927860" y="609600"/>
            <a:ext cx="8911687" cy="541943"/>
          </a:xfrm>
          <a:prstGeom prst="rect">
            <a:avLst/>
          </a:prstGeom>
        </p:spPr>
        <p:txBody>
          <a:bodyPr vert="horz" wrap="square" lIns="0" tIns="231902" rIns="0" bIns="0" rtlCol="0">
            <a:spAutoFit/>
          </a:bodyPr>
          <a:lstStyle/>
          <a:p>
            <a:pPr lvl="0"/>
            <a:r>
              <a:rPr lang="en-US" sz="2000" b="1" dirty="0">
                <a:solidFill>
                  <a:schemeClr val="tx1"/>
                </a:solidFill>
                <a:latin typeface="Times New Roman" panose="02020603050405020304" pitchFamily="18" charset="0"/>
                <a:cs typeface="Times New Roman" panose="02020603050405020304" pitchFamily="18" charset="0"/>
              </a:rPr>
              <a:t>CONCLUSION</a:t>
            </a: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D87E1432-F0AE-833B-A2DC-29A8A0C17D78}"/>
              </a:ext>
            </a:extLst>
          </p:cNvPr>
          <p:cNvSpPr>
            <a:spLocks noChangeArrowheads="1"/>
          </p:cNvSpPr>
          <p:nvPr/>
        </p:nvSpPr>
        <p:spPr bwMode="auto">
          <a:xfrm>
            <a:off x="1828800" y="1524000"/>
            <a:ext cx="887739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defTabSz="914400" eaLnBrk="0" fontAlgn="base" hangingPunct="0">
              <a:spcBef>
                <a:spcPct val="0"/>
              </a:spcBef>
              <a:spcAft>
                <a:spcPct val="0"/>
              </a:spcAf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Intranet, extranet, and internet are essential networking systems that differ in accessibility, security, and purpose. The World Wide Web enables users to access and share information through interconnected web pages. HTTP plays a vital role in transferring data between web browsers and servers. The three-way handshake ensures reliable and secure communication by establishing a proper TCP connection. Together, these concepts form the foundation of modern computer networks and support efficient, secure, and global communication.</a:t>
            </a:r>
          </a:p>
        </p:txBody>
      </p:sp>
    </p:spTree>
    <p:extLst>
      <p:ext uri="{BB962C8B-B14F-4D97-AF65-F5344CB8AC3E}">
        <p14:creationId xmlns:p14="http://schemas.microsoft.com/office/powerpoint/2010/main" val="735083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9A30A-17AD-8556-B486-5FD9DE02A09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10C607B-2FF6-4ED7-6933-6B07149D3D15}"/>
              </a:ext>
            </a:extLst>
          </p:cNvPr>
          <p:cNvSpPr/>
          <p:nvPr/>
        </p:nvSpPr>
        <p:spPr>
          <a:xfrm>
            <a:off x="0" y="714756"/>
            <a:ext cx="1592580" cy="508000"/>
          </a:xfrm>
          <a:custGeom>
            <a:avLst/>
            <a:gdLst/>
            <a:ahLst/>
            <a:cxnLst/>
            <a:rect l="l" t="t" r="r" b="b"/>
            <a:pathLst>
              <a:path w="1592580" h="508000">
                <a:moveTo>
                  <a:pt x="0" y="0"/>
                </a:moveTo>
                <a:lnTo>
                  <a:pt x="0" y="503948"/>
                </a:lnTo>
                <a:lnTo>
                  <a:pt x="1245844" y="507491"/>
                </a:lnTo>
                <a:lnTo>
                  <a:pt x="1346200" y="507491"/>
                </a:lnTo>
                <a:lnTo>
                  <a:pt x="1350899" y="502665"/>
                </a:lnTo>
                <a:lnTo>
                  <a:pt x="1352423" y="501141"/>
                </a:lnTo>
                <a:lnTo>
                  <a:pt x="1354328" y="499617"/>
                </a:lnTo>
                <a:lnTo>
                  <a:pt x="1355852" y="497966"/>
                </a:lnTo>
                <a:lnTo>
                  <a:pt x="1584960" y="268858"/>
                </a:lnTo>
                <a:lnTo>
                  <a:pt x="1590246" y="261714"/>
                </a:lnTo>
                <a:lnTo>
                  <a:pt x="1592008" y="254571"/>
                </a:lnTo>
                <a:lnTo>
                  <a:pt x="1590246" y="247427"/>
                </a:lnTo>
                <a:lnTo>
                  <a:pt x="1584960" y="240283"/>
                </a:lnTo>
                <a:lnTo>
                  <a:pt x="1355852" y="11302"/>
                </a:lnTo>
                <a:lnTo>
                  <a:pt x="1350899" y="11302"/>
                </a:lnTo>
                <a:lnTo>
                  <a:pt x="1350899" y="6476"/>
                </a:lnTo>
                <a:lnTo>
                  <a:pt x="1346200" y="6476"/>
                </a:lnTo>
                <a:lnTo>
                  <a:pt x="1341374" y="1777"/>
                </a:lnTo>
                <a:lnTo>
                  <a:pt x="1245844" y="1777"/>
                </a:lnTo>
                <a:lnTo>
                  <a:pt x="0" y="0"/>
                </a:lnTo>
                <a:close/>
              </a:path>
            </a:pathLst>
          </a:custGeom>
          <a:solidFill>
            <a:srgbClr val="353535"/>
          </a:solidFill>
        </p:spPr>
        <p:txBody>
          <a:bodyPr wrap="square" lIns="0" tIns="0" rIns="0" bIns="0" rtlCol="0"/>
          <a:lstStyle/>
          <a:p>
            <a:endParaRPr/>
          </a:p>
        </p:txBody>
      </p:sp>
      <p:sp>
        <p:nvSpPr>
          <p:cNvPr id="3" name="object 3">
            <a:extLst>
              <a:ext uri="{FF2B5EF4-FFF2-40B4-BE49-F238E27FC236}">
                <a16:creationId xmlns:a16="http://schemas.microsoft.com/office/drawing/2014/main" id="{A2716506-C504-BEF5-3667-3C735C1BDB54}"/>
              </a:ext>
            </a:extLst>
          </p:cNvPr>
          <p:cNvSpPr txBox="1">
            <a:spLocks noGrp="1"/>
          </p:cNvSpPr>
          <p:nvPr>
            <p:ph type="title"/>
          </p:nvPr>
        </p:nvSpPr>
        <p:spPr>
          <a:xfrm>
            <a:off x="1981200" y="741426"/>
            <a:ext cx="8911687" cy="541943"/>
          </a:xfrm>
          <a:prstGeom prst="rect">
            <a:avLst/>
          </a:prstGeom>
        </p:spPr>
        <p:txBody>
          <a:bodyPr vert="horz" wrap="square" lIns="0" tIns="231902" rIns="0" bIns="0" rtlCol="0">
            <a:spAutoFit/>
          </a:bodyPr>
          <a:lstStyle/>
          <a:p>
            <a:pPr marL="0" marR="0" lvl="0" indent="0" algn="just" defTabSz="914400" rtl="0" eaLnBrk="0" fontAlgn="base" latinLnBrk="0" hangingPunct="0">
              <a:lnSpc>
                <a:spcPct val="100000"/>
              </a:lnSpc>
              <a:spcBef>
                <a:spcPct val="0"/>
              </a:spcBef>
              <a:spcAft>
                <a:spcPct val="0"/>
              </a:spcAft>
              <a:buClrTx/>
              <a:buSzTx/>
              <a:tabLst/>
            </a:pPr>
            <a:r>
              <a:rPr lang="en-US" altLang="en-US" sz="2000" b="1" dirty="0">
                <a:latin typeface="Times New Roman" panose="02020603050405020304" pitchFamily="18" charset="0"/>
                <a:cs typeface="Times New Roman" panose="02020603050405020304" pitchFamily="18" charset="0"/>
              </a:rPr>
              <a:t>REFERENCES</a:t>
            </a:r>
          </a:p>
        </p:txBody>
      </p:sp>
      <p:sp>
        <p:nvSpPr>
          <p:cNvPr id="6" name="Rectangle 2">
            <a:extLst>
              <a:ext uri="{FF2B5EF4-FFF2-40B4-BE49-F238E27FC236}">
                <a16:creationId xmlns:a16="http://schemas.microsoft.com/office/drawing/2014/main" id="{C1FF308A-6ABA-491D-DF63-F99D6056EEE3}"/>
              </a:ext>
            </a:extLst>
          </p:cNvPr>
          <p:cNvSpPr>
            <a:spLocks noChangeArrowheads="1"/>
          </p:cNvSpPr>
          <p:nvPr/>
        </p:nvSpPr>
        <p:spPr bwMode="auto">
          <a:xfrm>
            <a:off x="2209800" y="1676400"/>
            <a:ext cx="9144000"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defTabSz="914400" eaLnBrk="0" fontAlgn="base" hangingPunct="0">
              <a:lnSpc>
                <a:spcPct val="150000"/>
              </a:lnSpc>
              <a:spcBef>
                <a:spcPct val="0"/>
              </a:spcBef>
              <a:spcAft>
                <a:spcPct val="0"/>
              </a:spcAft>
              <a:buFont typeface="Wingdings" panose="05000000000000000000" pitchFamily="2" charset="2"/>
              <a:buChar char="§"/>
            </a:pPr>
            <a:r>
              <a:rPr lang="en-US" sz="1400" dirty="0">
                <a:hlinkClick r:id="rId3"/>
              </a:rPr>
              <a:t>https://www.geeksforgeeks.org/computer-networks/internet-intranet-and-extranet/</a:t>
            </a:r>
            <a:endParaRPr lang="en-US" sz="1400" dirty="0"/>
          </a:p>
          <a:p>
            <a:pPr marL="285750" lvl="0" indent="-285750" algn="just" defTabSz="914400" eaLnBrk="0" fontAlgn="base" hangingPunct="0">
              <a:lnSpc>
                <a:spcPct val="150000"/>
              </a:lnSpc>
              <a:spcBef>
                <a:spcPct val="0"/>
              </a:spcBef>
              <a:spcAft>
                <a:spcPct val="0"/>
              </a:spcAft>
              <a:buFont typeface="Wingdings" panose="05000000000000000000" pitchFamily="2" charset="2"/>
              <a:buChar char="§"/>
            </a:pPr>
            <a:r>
              <a:rPr lang="en-US" sz="1400" dirty="0">
                <a:hlinkClick r:id="rId4"/>
              </a:rPr>
              <a:t>https://en.wikipedia.org/wiki/World_Wide_Web</a:t>
            </a:r>
            <a:endParaRPr lang="en-US" sz="1400" dirty="0"/>
          </a:p>
          <a:p>
            <a:pPr marL="285750" lvl="0" indent="-285750" algn="just" defTabSz="914400" eaLnBrk="0" fontAlgn="base" hangingPunct="0">
              <a:lnSpc>
                <a:spcPct val="150000"/>
              </a:lnSpc>
              <a:spcBef>
                <a:spcPct val="0"/>
              </a:spcBef>
              <a:spcAft>
                <a:spcPct val="0"/>
              </a:spcAft>
              <a:buFont typeface="Wingdings" panose="05000000000000000000" pitchFamily="2" charset="2"/>
              <a:buChar char="§"/>
            </a:pPr>
            <a:r>
              <a:rPr lang="en-US" sz="1400" dirty="0">
                <a:hlinkClick r:id="rId5"/>
              </a:rPr>
              <a:t>https://www.w3schools.com/whatis/whatis_http.asp</a:t>
            </a:r>
            <a:endParaRPr lang="en-US" sz="1400" dirty="0"/>
          </a:p>
          <a:p>
            <a:pPr marL="285750" lvl="0" indent="-285750" algn="just" defTabSz="914400" eaLnBrk="0" fontAlgn="base" hangingPunct="0">
              <a:lnSpc>
                <a:spcPct val="150000"/>
              </a:lnSpc>
              <a:spcBef>
                <a:spcPct val="0"/>
              </a:spcBef>
              <a:spcAft>
                <a:spcPct val="0"/>
              </a:spcAft>
              <a:buFont typeface="Wingdings" panose="05000000000000000000" pitchFamily="2" charset="2"/>
              <a:buChar char="§"/>
            </a:pPr>
            <a:r>
              <a:rPr lang="en-US" sz="1400" dirty="0">
                <a:hlinkClick r:id="rId6"/>
              </a:rPr>
              <a:t>https://www.geeksforgeeks.org/computer-networks/tcp-3-way-handshake-process/</a:t>
            </a:r>
            <a:endParaRPr lang="en-US" sz="1400" dirty="0"/>
          </a:p>
          <a:p>
            <a:pPr marL="285750" lvl="0" indent="-285750" algn="just" defTabSz="914400" eaLnBrk="0" fontAlgn="base" hangingPunct="0">
              <a:lnSpc>
                <a:spcPct val="150000"/>
              </a:lnSpc>
              <a:spcBef>
                <a:spcPct val="0"/>
              </a:spcBef>
              <a:spcAft>
                <a:spcPct val="0"/>
              </a:spcAft>
              <a:buFont typeface="Wingdings" panose="05000000000000000000" pitchFamily="2" charset="2"/>
              <a:buChar char="§"/>
            </a:pPr>
            <a:endParaRPr lang="en-US" sz="1400" dirty="0"/>
          </a:p>
          <a:p>
            <a:pPr marL="285750" lvl="0" indent="-285750" algn="just" defTabSz="914400" eaLnBrk="0" fontAlgn="base" hangingPunct="0">
              <a:lnSpc>
                <a:spcPct val="150000"/>
              </a:lnSpc>
              <a:spcBef>
                <a:spcPct val="0"/>
              </a:spcBef>
              <a:spcAft>
                <a:spcPct val="0"/>
              </a:spcAft>
              <a:buFont typeface="Wingdings" panose="05000000000000000000" pitchFamily="2" charset="2"/>
              <a:buChar char="§"/>
            </a:pPr>
            <a:endParaRPr lang="en-US" sz="1400" dirty="0"/>
          </a:p>
          <a:p>
            <a:pPr marL="285750" lvl="0" indent="-285750" algn="just" defTabSz="914400" eaLnBrk="0" fontAlgn="base" hangingPunct="0">
              <a:lnSpc>
                <a:spcPct val="150000"/>
              </a:lnSpc>
              <a:spcBef>
                <a:spcPct val="0"/>
              </a:spcBef>
              <a:spcAft>
                <a:spcPct val="0"/>
              </a:spcAft>
              <a:buFont typeface="Wingdings" panose="05000000000000000000" pitchFamily="2" charset="2"/>
              <a:buChar char="§"/>
            </a:pPr>
            <a:endParaRPr lang="en-US" sz="1400" dirty="0"/>
          </a:p>
          <a:p>
            <a:pPr marL="285750" lvl="0" indent="-285750" algn="just" defTabSz="914400" eaLnBrk="0" fontAlgn="base" hangingPunct="0">
              <a:lnSpc>
                <a:spcPct val="150000"/>
              </a:lnSpc>
              <a:spcBef>
                <a:spcPct val="0"/>
              </a:spcBef>
              <a:spcAft>
                <a:spcPct val="0"/>
              </a:spcAft>
              <a:buFont typeface="Wingdings" panose="05000000000000000000" pitchFamily="2" charset="2"/>
              <a:buChar char="§"/>
            </a:pPr>
            <a:endParaRPr lang="en-US" sz="1400" dirty="0">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8395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5559" y="2590800"/>
            <a:ext cx="6040882" cy="1244571"/>
          </a:xfrm>
          <a:prstGeom prst="rect">
            <a:avLst/>
          </a:prstGeom>
        </p:spPr>
        <p:txBody>
          <a:bodyPr vert="horz" wrap="square" lIns="0" tIns="13335" rIns="0" bIns="0" rtlCol="0">
            <a:spAutoFit/>
          </a:bodyPr>
          <a:lstStyle/>
          <a:p>
            <a:pPr marL="12700">
              <a:lnSpc>
                <a:spcPct val="100000"/>
              </a:lnSpc>
              <a:spcBef>
                <a:spcPts val="105"/>
              </a:spcBef>
            </a:pPr>
            <a:r>
              <a:rPr lang="en-IN" sz="8000" b="0" dirty="0">
                <a:effectLst>
                  <a:glow rad="63500">
                    <a:schemeClr val="accent3">
                      <a:satMod val="175000"/>
                      <a:alpha val="40000"/>
                    </a:schemeClr>
                  </a:glow>
                  <a:reflection blurRad="6350" stA="55000" endA="300" endPos="45500" dir="5400000" sy="-100000" algn="bl" rotWithShape="0"/>
                </a:effectLst>
                <a:latin typeface="Times New Roman"/>
                <a:cs typeface="Times New Roman"/>
              </a:rPr>
              <a:t>THANK</a:t>
            </a:r>
            <a:r>
              <a:rPr lang="en-IN" sz="8000" b="0" spc="-320" dirty="0">
                <a:effectLst>
                  <a:glow rad="63500">
                    <a:schemeClr val="accent3">
                      <a:satMod val="175000"/>
                      <a:alpha val="40000"/>
                    </a:schemeClr>
                  </a:glow>
                  <a:reflection blurRad="6350" stA="55000" endA="300" endPos="45500" dir="5400000" sy="-100000" algn="bl" rotWithShape="0"/>
                </a:effectLst>
                <a:latin typeface="Times New Roman"/>
                <a:cs typeface="Times New Roman"/>
              </a:rPr>
              <a:t> </a:t>
            </a:r>
            <a:r>
              <a:rPr lang="en-IN" sz="8000" b="0" spc="-830" dirty="0">
                <a:effectLst>
                  <a:glow rad="63500">
                    <a:schemeClr val="accent3">
                      <a:satMod val="175000"/>
                      <a:alpha val="40000"/>
                    </a:schemeClr>
                  </a:glow>
                  <a:reflection blurRad="6350" stA="55000" endA="300" endPos="45500" dir="5400000" sy="-100000" algn="bl" rotWithShape="0"/>
                </a:effectLst>
                <a:latin typeface="Times New Roman"/>
                <a:cs typeface="Times New Roman"/>
              </a:rPr>
              <a:t>Y</a:t>
            </a:r>
            <a:r>
              <a:rPr lang="en-IN" sz="8000" b="0" spc="-25" dirty="0">
                <a:effectLst>
                  <a:glow rad="63500">
                    <a:schemeClr val="accent3">
                      <a:satMod val="175000"/>
                      <a:alpha val="40000"/>
                    </a:schemeClr>
                  </a:glow>
                  <a:reflection blurRad="6350" stA="55000" endA="300" endPos="45500" dir="5400000" sy="-100000" algn="bl" rotWithShape="0"/>
                </a:effectLst>
                <a:latin typeface="Times New Roman"/>
                <a:cs typeface="Times New Roman"/>
              </a:rPr>
              <a:t>OU</a:t>
            </a:r>
            <a:endParaRPr lang="en-IN" sz="8000" dirty="0">
              <a:effectLst>
                <a:glow rad="63500">
                  <a:schemeClr val="accent3">
                    <a:satMod val="175000"/>
                    <a:alpha val="40000"/>
                  </a:schemeClr>
                </a:glow>
                <a:reflection blurRad="6350" stA="55000" endA="300" endPos="45500" dir="5400000" sy="-100000" algn="bl" rotWithShape="0"/>
              </a:effectLst>
              <a:latin typeface="Times New Roman"/>
              <a:cs typeface="Times New Roman"/>
            </a:endParaRPr>
          </a:p>
        </p:txBody>
      </p:sp>
    </p:spTree>
  </p:cSld>
  <p:clrMapOvr>
    <a:masterClrMapping/>
  </p:clrMapOvr>
  <p:transition advTm="0">
    <p:sndAc>
      <p:stSnd>
        <p:snd r:embed="rId2" name="applause.wav"/>
      </p:stSnd>
    </p:sndAc>
  </p:transition>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TM02900688[[fn=Facet]]</Template>
  <TotalTime>1571</TotalTime>
  <Words>954</Words>
  <Application>Microsoft Office PowerPoint</Application>
  <PresentationFormat>Widescreen</PresentationFormat>
  <Paragraphs>110</Paragraphs>
  <Slides>9</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Times New Roman</vt:lpstr>
      <vt:lpstr>Trebuchet MS</vt:lpstr>
      <vt:lpstr>Wingdings</vt:lpstr>
      <vt:lpstr>Wingdings 3</vt:lpstr>
      <vt:lpstr>Facet</vt:lpstr>
      <vt:lpstr>                         COLLEGE OF ENGINEERING &amp; MANAGEMENT , KOLAGHAT          </vt:lpstr>
      <vt:lpstr>TABLE OF CONTENT</vt:lpstr>
      <vt:lpstr>WRITE THE DIFFERENCE BETWEEN INTRANET EXTRANET AND INTERNET EXTRANET? </vt:lpstr>
      <vt:lpstr>WHAT IS WORLD WIDE WEB?</vt:lpstr>
      <vt:lpstr>WHAT IS HTTP? </vt:lpstr>
      <vt:lpstr>WHAT DOES THREE-WAY HANDSHAKE MEAN?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Sanjay Maity</dc:creator>
  <cp:lastModifiedBy>Sanjay Maity</cp:lastModifiedBy>
  <cp:revision>100</cp:revision>
  <dcterms:created xsi:type="dcterms:W3CDTF">2024-08-01T16:51:22Z</dcterms:created>
  <dcterms:modified xsi:type="dcterms:W3CDTF">2026-01-19T13:08:41Z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2024-08-01T00:00:00Z</vt:filetime>
  </property>
  <property fmtid="{D5CDD505-2E9C-101B-9397-08002B2CF9AE}" pid="3" name="Creator">
    <vt:lpwstr>Microsoft® PowerPoint® 2021</vt:lpwstr>
  </property>
  <property fmtid="{D5CDD505-2E9C-101B-9397-08002B2CF9AE}" pid="4" name="LastSaved">
    <vt:filetime>2024-08-01T00:00:00Z</vt:filetime>
  </property>
  <property fmtid="{D5CDD505-2E9C-101B-9397-08002B2CF9AE}" pid="5" name="Producer">
    <vt:lpwstr>3-Heights(TM) PDF Security Shell 4.8.25.2 (http://www.pdf-tools.com)</vt:lpwstr>
  </property>
</Properties>
</file>